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c1d842aa8c4373" /><Relationship Type="http://schemas.openxmlformats.org/officeDocument/2006/relationships/extended-properties" Target="/docProps/app.xml" Id="R2ccc8d0e6082453e" /><Relationship Type="http://schemas.openxmlformats.org/officeDocument/2006/relationships/officeDocument" Target="/ppt/presentation.xml" Id="R56d9b9b71cc64c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62583ac7cc4690"/>
  </p:sldMasterIdLst>
  <p:notesMasterIdLst>
    <p:notesMasterId xmlns:r="http://schemas.openxmlformats.org/officeDocument/2006/relationships" r:id="R08e836d817234e30"/>
  </p:notesMasterIdLst>
  <p:sldIdLst>
    <p:sldId xmlns:r="http://schemas.openxmlformats.org/officeDocument/2006/relationships" id="256" r:id="R023f49cbbefc47e7"/>
    <p:sldId xmlns:r="http://schemas.openxmlformats.org/officeDocument/2006/relationships" id="257" r:id="R7f84784a63cd4ca1"/>
    <p:sldId xmlns:r="http://schemas.openxmlformats.org/officeDocument/2006/relationships" id="258" r:id="Ra14c16dd70b243b1"/>
    <p:sldId xmlns:r="http://schemas.openxmlformats.org/officeDocument/2006/relationships" id="259" r:id="Rdbda8abc731040db"/>
    <p:sldId xmlns:r="http://schemas.openxmlformats.org/officeDocument/2006/relationships" id="260" r:id="R3ec7a8ddbc014e3d"/>
    <p:sldId xmlns:r="http://schemas.openxmlformats.org/officeDocument/2006/relationships" id="261" r:id="Rdb773a1ed63848f0"/>
    <p:sldId xmlns:r="http://schemas.openxmlformats.org/officeDocument/2006/relationships" id="262" r:id="Rc428782d54d14d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52abc354f74595" /><Relationship Type="http://schemas.openxmlformats.org/officeDocument/2006/relationships/slideMaster" Target="/ppt/slideMasters/slideMaster1.xml" Id="Raa62583ac7cc4690" /><Relationship Type="http://schemas.openxmlformats.org/officeDocument/2006/relationships/notesMaster" Target="/ppt/notesMasters/notesMaster1.xml" Id="R08e836d817234e30" /><Relationship Type="http://schemas.openxmlformats.org/officeDocument/2006/relationships/presProps" Target="/ppt/presProps.xml" Id="Re1c0a715f1124414" /><Relationship Type="http://schemas.openxmlformats.org/officeDocument/2006/relationships/tableStyles" Target="/ppt/tableStyles.xml" Id="R878962690b9549f6" /><Relationship Type="http://schemas.openxmlformats.org/officeDocument/2006/relationships/slide" Target="/ppt/slides/slide1.xml" Id="R023f49cbbefc47e7" /><Relationship Type="http://schemas.openxmlformats.org/officeDocument/2006/relationships/slide" Target="/ppt/slides/slide2.xml" Id="R7f84784a63cd4ca1" /><Relationship Type="http://schemas.openxmlformats.org/officeDocument/2006/relationships/slide" Target="/ppt/slides/slide3.xml" Id="Ra14c16dd70b243b1" /><Relationship Type="http://schemas.openxmlformats.org/officeDocument/2006/relationships/slide" Target="/ppt/slides/slide4.xml" Id="Rdbda8abc731040db" /><Relationship Type="http://schemas.openxmlformats.org/officeDocument/2006/relationships/slide" Target="/ppt/slides/slide5.xml" Id="R3ec7a8ddbc014e3d" /><Relationship Type="http://schemas.openxmlformats.org/officeDocument/2006/relationships/slide" Target="/ppt/slides/slide6.xml" Id="Rdb773a1ed63848f0" /><Relationship Type="http://schemas.openxmlformats.org/officeDocument/2006/relationships/slide" Target="/ppt/slides/slide7.xml" Id="Rc428782d54d14d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7955712d6949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75ae9bdcfe48fc" /><Relationship Type="http://schemas.openxmlformats.org/officeDocument/2006/relationships/notesMaster" Target="/ppt/notesMasters/notesMaster1.xml" Id="R79aa9b115bdf46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986bcd8fc4406f" /><Relationship Type="http://schemas.openxmlformats.org/officeDocument/2006/relationships/notesMaster" Target="/ppt/notesMasters/notesMaster1.xml" Id="R67092080aee747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796feb523646f4" /><Relationship Type="http://schemas.openxmlformats.org/officeDocument/2006/relationships/notesMaster" Target="/ppt/notesMasters/notesMaster1.xml" Id="Rd54bbdce163441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2f21b57ea642ad" /><Relationship Type="http://schemas.openxmlformats.org/officeDocument/2006/relationships/notesMaster" Target="/ppt/notesMasters/notesMaster1.xml" Id="R82ee576bbd5d48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0b73d001f245c1" /><Relationship Type="http://schemas.openxmlformats.org/officeDocument/2006/relationships/notesMaster" Target="/ppt/notesMasters/notesMaster1.xml" Id="R92a3f96a43b045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1181fbda1f459a" /><Relationship Type="http://schemas.openxmlformats.org/officeDocument/2006/relationships/notesMaster" Target="/ppt/notesMasters/notesMaster1.xml" Id="Rdd1b1ad34f6b40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7d7f3a56624de5" /><Relationship Type="http://schemas.openxmlformats.org/officeDocument/2006/relationships/notesMaster" Target="/ppt/notesMasters/notesMaster1.xml" Id="R7e3f407c698c4c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bbd473258145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42643515cf4680" /><Relationship Type="http://schemas.openxmlformats.org/officeDocument/2006/relationships/slideLayout" Target="/ppt/slideLayouts/slideLayout1.xml" Id="R9b059c43306141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059c43306141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0267aeac04097" /><Relationship Type="http://schemas.openxmlformats.org/officeDocument/2006/relationships/notesSlide" Target="/ppt/notesSlides/notesSlide1.xml" Id="Re801c8a50b2946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f118a235c436b" /><Relationship Type="http://schemas.openxmlformats.org/officeDocument/2006/relationships/notesSlide" Target="/ppt/notesSlides/notesSlide2.xml" Id="Rc195efd257c341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92c53be464902" /><Relationship Type="http://schemas.openxmlformats.org/officeDocument/2006/relationships/notesSlide" Target="/ppt/notesSlides/notesSlide3.xml" Id="Rd9a885e15e3c44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1550861524e6a" /><Relationship Type="http://schemas.openxmlformats.org/officeDocument/2006/relationships/notesSlide" Target="/ppt/notesSlides/notesSlide4.xml" Id="R21fe6d7dd1464b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50e15eafc474b" /><Relationship Type="http://schemas.openxmlformats.org/officeDocument/2006/relationships/notesSlide" Target="/ppt/notesSlides/notesSlide5.xml" Id="R35ac19c182db42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c8edac672487d" /><Relationship Type="http://schemas.openxmlformats.org/officeDocument/2006/relationships/notesSlide" Target="/ppt/notesSlides/notesSlide6.xml" Id="R10a0c9224f8549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77bdfdf1f42b2" /><Relationship Type="http://schemas.openxmlformats.org/officeDocument/2006/relationships/notesSlide" Target="/ppt/notesSlides/notesSlide7.xml" Id="R60352189823f4c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4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2F549-30B1-4623-A5E4-3C84C175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CC9"/>
                </a:solidFill>
              </a:defRPr>
            </a:pPr>
            <a:r>
              <a:rPr sz="1500" b="1">
                <a:solidFill>
                  <a:srgbClr val="DCECC9"/>
                </a:solidFill>
              </a:rPr>
              <a:t>NEXT SPOT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BB32C-33DF-4134-B663-D48685DD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“서울은 너무 붐비고…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새로운 곳은 어디 없을까?”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4E674-A372-4325-9A7F-6D3A9E3A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9DDCC"/>
                </a:solidFill>
              </a:defRPr>
            </a:pPr>
            <a:r>
              <a:rPr sz="1650" b="0">
                <a:solidFill>
                  <a:srgbClr val="C9DDCC"/>
                </a:solidFill>
              </a:rPr>
              <a:t>퇴근 후 혼자 쉬고 싶은 날, 주말에 조용한 데이트를 하고 싶은 날</a:t>
            </a:r>
          </a:p>
          <a:p xmlns:a="http://schemas.openxmlformats.org/drawingml/2006/main">
            <a:pPr>
              <a:defRPr sz="1650" b="0">
                <a:solidFill>
                  <a:srgbClr val="C9DDCC"/>
                </a:solidFill>
              </a:defRPr>
            </a:pPr>
            <a:r>
              <a:rPr sz="1650" b="0">
                <a:solidFill>
                  <a:srgbClr val="C9DDCC"/>
                </a:solidFill>
              </a:rPr>
              <a:t>우리는 이미 유명해진 핫플 말고 아직 과밀하지 않은 동네를 찾습니다.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6AD0F-A6D2-4596-A663-DF22A039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CC9"/>
                </a:solidFill>
              </a:defRPr>
            </a:pPr>
            <a:r>
              <a:rPr sz="1350" b="1">
                <a:solidFill>
                  <a:srgbClr val="DCECC9"/>
                </a:solidFill>
              </a:rPr>
              <a:t>그 질문에서 NEXT SPOT이 시작됐습니다.</a:t>
            </a:r>
          </a:p>
        </p:txBody>
      </p:sp>
    </p:spTree>
    <p:extLst>
      <p:ext uri="{BB962C8B-B14F-4D97-AF65-F5344CB8AC3E}">
        <p14:creationId xmlns:p14="http://schemas.microsoft.com/office/powerpoint/2010/main" val="7774680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9C96D-1BB6-4BDE-BB1C-21FEE83C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01 · USER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72199-B361-42D3-8537-2F3AC470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사용자의 진짜 질문은 “어디가 유명해?”가 아니라 “어디가 곧 좋아질까?”입니다.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E9959-93DA-4EC8-85B8-C5B37827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31D"/>
                </a:solidFill>
              </a:defRPr>
            </a:pPr>
            <a:r>
              <a:rPr sz="1800" b="0">
                <a:solidFill>
                  <a:srgbClr val="18231D"/>
                </a:solidFill>
              </a:rPr>
              <a:t>퇴근 후, 이미 붐비는 성수·연남 대신 조용하지만 분위기 있는 동네를 찾는다.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A7A09-3825-4812-8C46-883D1EC3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6517C-973E-4EB1-8646-29D94696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37168"/>
                </a:solidFill>
              </a:defRPr>
            </a:pPr>
            <a:r>
              <a:rPr sz="1350" b="1">
                <a:solidFill>
                  <a:srgbClr val="637168"/>
                </a:solidFill>
              </a:rPr>
              <a:t>상황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4F123-49B3-4723-8AAD-227601EC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31D"/>
                </a:solidFill>
              </a:defRPr>
            </a:pPr>
            <a:r>
              <a:rPr sz="1725" b="1">
                <a:solidFill>
                  <a:srgbClr val="18231D"/>
                </a:solidFill>
              </a:rPr>
              <a:t>사람은 많고, 대기는 싫다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4BAD5-CB9E-4681-8DAE-4F8239A3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C4B36"/>
          </a:solidFill>
          <a:ln xmlns:a="http://schemas.openxmlformats.org/drawingml/2006/main" w="0">
            <a:solidFill>
              <a:srgbClr val="1C4B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FC8C9-C37A-4140-A053-8F1318D0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CC9"/>
                </a:solidFill>
              </a:defRPr>
            </a:pPr>
            <a:r>
              <a:rPr sz="1350" b="1">
                <a:solidFill>
                  <a:srgbClr val="DCECC9"/>
                </a:solidFill>
              </a:rPr>
              <a:t>기존 행동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F0DD7-E6F6-440A-8B7B-447E813B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718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인스타그램·지도·AI에 검색한다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0B6A9-A18E-4052-8A3C-A861645F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5F4B6-B172-49FE-A2C8-7A8FE11C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37168"/>
                </a:solidFill>
              </a:defRPr>
            </a:pPr>
            <a:r>
              <a:rPr sz="1350" b="1">
                <a:solidFill>
                  <a:srgbClr val="637168"/>
                </a:solidFill>
              </a:rPr>
              <a:t>남은 문제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A96C7-6D59-4663-8B54-C0FC6B04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718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31D"/>
                </a:solidFill>
              </a:defRPr>
            </a:pPr>
            <a:r>
              <a:rPr sz="1725" b="1">
                <a:solidFill>
                  <a:srgbClr val="18231D"/>
                </a:solidFill>
              </a:rPr>
              <a:t>결과는 이미 유명한 장소 중심이다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2330A-1FCA-4F2F-8135-A606AC73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2</a:t>
            </a:r>
          </a:p>
        </p:txBody>
      </p:sp>
    </p:spTree>
    <p:extLst>
      <p:ext uri="{BB962C8B-B14F-4D97-AF65-F5344CB8AC3E}">
        <p14:creationId xmlns:p14="http://schemas.microsoft.com/office/powerpoint/2010/main" val="37315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79124-EC8F-419D-B3B1-FCCB9D31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02 ·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415CD-9A45-4068-9417-2BF356D9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키워드를 입력하면, 지도와 근거가 함께 나옵니다.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C2690-AA18-4613-A7BC-696439D4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333750" cy="4095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F4DA8-17EC-4106-A5B6-CCF6C7DB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478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31D"/>
                </a:solidFill>
              </a:defRPr>
            </a:pPr>
            <a:r>
              <a:rPr sz="1650" b="1">
                <a:solidFill>
                  <a:srgbClr val="18231D"/>
                </a:solidFill>
              </a:rPr>
              <a:t>어떤 동네를 찾고 있나요?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71124-4BD2-432D-B31B-F16D1547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주말에 조용한 데이트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B71C2-726D-42F4-B32C-42BC37B2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5717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C4B36"/>
          </a:solidFill>
          <a:ln xmlns:a="http://schemas.openxmlformats.org/drawingml/2006/main" w="0">
            <a:solidFill>
              <a:srgbClr val="1C4B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DBCF5-8403-4E54-99E8-E7EBEA6F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주말에 조용한 데이트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2DAA5-5F5D-457D-AF82-C9BA30ED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168"/>
                </a:solidFill>
              </a:defRPr>
            </a:pPr>
            <a:r>
              <a:rPr sz="1200" b="0">
                <a:solidFill>
                  <a:srgbClr val="637168"/>
                </a:solidFill>
              </a:rPr>
              <a:t>변화 신호를 검색하고 있어요…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863A5-3C87-4A91-AC42-F80251DA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6381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4EEDB"/>
          </a:solidFill>
          <a:ln xmlns:a="http://schemas.openxmlformats.org/drawingml/2006/main" w="0">
            <a:solidFill>
              <a:srgbClr val="E4EE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58136-4628-429A-B308-C5C06622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96046"/>
                </a:solidFill>
              </a:defRPr>
            </a:pPr>
            <a:r>
              <a:rPr sz="1350" b="1">
                <a:solidFill>
                  <a:srgbClr val="496046"/>
                </a:solidFill>
              </a:rPr>
              <a:t>서울 변화 신호 지도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46C1D-19F2-4825-8DD2-0129B1F7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2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154EA-DD7C-4F3A-8F0A-60B74F9E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194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A45B0-A2B0-4E21-9EBB-5DE79A5F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2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F7B36-CC12-4129-9079-9BDD7ACA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862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6013E-F54D-42F4-9E6F-DC1B80B4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2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AA749-7B9B-4899-A71E-394CBDF3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10FBF-B5CB-4D33-BCE5-175F3CB0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38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D"/>
                </a:solidFill>
              </a:defRPr>
            </a:pPr>
            <a:r>
              <a:rPr sz="1350" b="1">
                <a:solidFill>
                  <a:srgbClr val="18231D"/>
                </a:solidFill>
              </a:rPr>
              <a:t>추천 리스트 · 연남동 · 망원동 · 문래동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8F8F1-5FA3-4AB2-86BE-2B600D3B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3</a:t>
            </a:r>
          </a:p>
        </p:txBody>
      </p:sp>
    </p:spTree>
    <p:extLst>
      <p:ext uri="{BB962C8B-B14F-4D97-AF65-F5344CB8AC3E}">
        <p14:creationId xmlns:p14="http://schemas.microsoft.com/office/powerpoint/2010/main" val="14787115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1853F-9A27-4D41-A201-6D0B3F66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03 · DATA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2FCF0-2F9D-419E-90C5-7B3AF499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NEXT SPOT 점수는 예측값이 아니라, 설명 가능한 신호의 조합입니다.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474DB-6299-4093-8558-63357521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C4B36"/>
          </a:solidFill>
          <a:ln xmlns:a="http://schemas.openxmlformats.org/drawingml/2006/main" w="0">
            <a:solidFill>
              <a:srgbClr val="1C4B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99A02-4EB5-499F-9450-6ACCE24C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변화 점수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B8645-708C-4638-A07E-DC9BF403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8E9D1"/>
                </a:solidFill>
              </a:defRPr>
            </a:pPr>
            <a:r>
              <a:rPr sz="1350" b="0">
                <a:solidFill>
                  <a:srgbClr val="D8E9D1"/>
                </a:solidFill>
              </a:rPr>
              <a:t>신규 설치 · 인구/세대</a:t>
            </a:r>
          </a:p>
          <a:p xmlns:a="http://schemas.openxmlformats.org/drawingml/2006/main">
            <a:pPr>
              <a:defRPr sz="1350" b="0">
                <a:solidFill>
                  <a:srgbClr val="D8E9D1"/>
                </a:solidFill>
              </a:defRPr>
            </a:pPr>
            <a:r>
              <a:rPr sz="1350" b="0">
                <a:solidFill>
                  <a:srgbClr val="D8E9D1"/>
                </a:solidFill>
              </a:rPr>
              <a:t>입주 · 점포 · 문화공간 · 생활인구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64236-F136-4C47-B646-D043CB9E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CECC9"/>
                </a:solidFill>
              </a:defRPr>
            </a:pPr>
            <a:r>
              <a:rPr sz="1875" b="1">
                <a:solidFill>
                  <a:srgbClr val="DCECC9"/>
                </a:solidFill>
              </a:rPr>
              <a:t>50%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CD40D-EA80-43E4-9DED-D554C1FB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00250"/>
            <a:ext cx="3238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B0D55-C4B2-416A-BB44-7CF0FBFD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86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31D"/>
                </a:solidFill>
              </a:defRPr>
            </a:pPr>
            <a:r>
              <a:rPr sz="1650" b="1">
                <a:solidFill>
                  <a:srgbClr val="18231D"/>
                </a:solidFill>
              </a:rPr>
              <a:t>발견 점수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409A4-F6F5-4CAF-A7DE-C2BED3D4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90512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68"/>
                </a:solidFill>
              </a:defRPr>
            </a:pPr>
            <a:r>
              <a:rPr sz="1350" b="0">
                <a:solidFill>
                  <a:srgbClr val="637168"/>
                </a:solidFill>
              </a:rPr>
              <a:t>업종 다양성 · 문화 다양성</a:t>
            </a:r>
          </a:p>
          <a:p xmlns:a="http://schemas.openxmlformats.org/drawingml/2006/main">
            <a:pPr>
              <a:defRPr sz="1350" b="0">
                <a:solidFill>
                  <a:srgbClr val="637168"/>
                </a:solidFill>
              </a:defRPr>
            </a:pPr>
            <a:r>
              <a:rPr sz="1350" b="0">
                <a:solidFill>
                  <a:srgbClr val="637168"/>
                </a:solidFill>
              </a:rPr>
              <a:t>혼잡도 페널티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51F6D-42BD-4591-B8B4-1A50C31E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8576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7925B"/>
                </a:solidFill>
              </a:defRPr>
            </a:pPr>
            <a:r>
              <a:rPr sz="1875" b="1">
                <a:solidFill>
                  <a:srgbClr val="57925B"/>
                </a:solidFill>
              </a:rPr>
              <a:t>30%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3CFEE-1A80-4909-9578-C6DA3D98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238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EEE3E-9A7C-461E-B3E3-1381F28A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31D"/>
                </a:solidFill>
              </a:defRPr>
            </a:pPr>
            <a:r>
              <a:rPr sz="1650" b="1">
                <a:solidFill>
                  <a:srgbClr val="18231D"/>
                </a:solidFill>
              </a:rPr>
              <a:t>방문 적합 점수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9F9EC-BE84-4C3D-8380-5217ADB1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0512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68"/>
                </a:solidFill>
              </a:defRPr>
            </a:pPr>
            <a:r>
              <a:rPr sz="1350" b="0">
                <a:solidFill>
                  <a:srgbClr val="637168"/>
                </a:solidFill>
              </a:rPr>
              <a:t>현재 혼잡도 · 생활인구</a:t>
            </a:r>
          </a:p>
          <a:p xmlns:a="http://schemas.openxmlformats.org/drawingml/2006/main">
            <a:pPr>
              <a:defRPr sz="1350" b="0">
                <a:solidFill>
                  <a:srgbClr val="637168"/>
                </a:solidFill>
              </a:defRPr>
            </a:pPr>
            <a:r>
              <a:rPr sz="1350" b="0">
                <a:solidFill>
                  <a:srgbClr val="637168"/>
                </a:solidFill>
              </a:rPr>
              <a:t>카페·식사·문화 연결성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C8E83-B8EA-4C31-8BF6-13D6328F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576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7925B"/>
                </a:solidFill>
              </a:defRPr>
            </a:pPr>
            <a:r>
              <a:rPr sz="1875" b="1">
                <a:solidFill>
                  <a:srgbClr val="57925B"/>
                </a:solidFill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F8C36-C60B-41D9-A4C5-09C827D7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31D"/>
                </a:solidFill>
              </a:defRPr>
            </a:pPr>
            <a:r>
              <a:rPr sz="1500" b="0">
                <a:solidFill>
                  <a:srgbClr val="18231D"/>
                </a:solidFill>
              </a:rPr>
              <a:t>모든 입력값은 0~100으로 정규화하며, 각 지역의 기여 요인을 함께 보여줍니다.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F3385-CFCB-4080-A912-1A5B3B66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4</a:t>
            </a:r>
          </a:p>
        </p:txBody>
      </p:sp>
    </p:spTree>
    <p:extLst>
      <p:ext uri="{BB962C8B-B14F-4D97-AF65-F5344CB8AC3E}">
        <p14:creationId xmlns:p14="http://schemas.microsoft.com/office/powerpoint/2010/main" val="20090545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C623F-B2A3-4C89-90F3-175598DA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04 · TRANSPARENT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100C7-9504-47DB-A5CF-2AD4A107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NEXT SPOT의 핵심은 “왜 추천했는가”를 보여주는 것입니다.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1FC3E-26E8-48E5-AC78-4AA3DFA5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C4B36"/>
          </a:solidFill>
          <a:ln xmlns:a="http://schemas.openxmlformats.org/drawingml/2006/main" w="0">
            <a:solidFill>
              <a:srgbClr val="1C4B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2D0ED-9A2E-4DC3-B22E-CC8E0150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연남동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9F854-A830-4A64-BB21-B8ECFBFF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CECC9"/>
                </a:solidFill>
              </a:defRPr>
            </a:pPr>
            <a:r>
              <a:rPr sz="1050" b="1">
                <a:solidFill>
                  <a:srgbClr val="DCECC9"/>
                </a:solidFill>
              </a:rPr>
              <a:t>NEXT SPOT SCORE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B7F2D-3022-4AB0-A612-5F0B740C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2D4DB-29F1-422E-BC5A-94852A48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9D1"/>
                </a:solidFill>
              </a:defRPr>
            </a:pPr>
            <a:r>
              <a:rPr sz="1275" b="0">
                <a:solidFill>
                  <a:srgbClr val="D8E9D1"/>
                </a:solidFill>
              </a:rPr>
              <a:t>현재 혼잡도 62/100 · 보통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F4D89-0F7A-4C18-915D-3FAAFABE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485775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2904D-0441-4AE5-9B23-29A506BB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43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31D"/>
                </a:solidFill>
              </a:defRPr>
            </a:pPr>
            <a:r>
              <a:rPr sz="1800" b="1">
                <a:solidFill>
                  <a:srgbClr val="18231D"/>
                </a:solidFill>
              </a:rPr>
              <a:t>왜 뜨는가?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3B5BF-17DE-4A26-AD16-F646246E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925B"/>
                </a:solidFill>
              </a:defRPr>
            </a:pPr>
            <a:r>
              <a:rPr sz="1800" b="1">
                <a:solidFill>
                  <a:srgbClr val="57925B"/>
                </a:solidFill>
              </a:rPr>
              <a:t>+ 신규 점포 32%</a:t>
            </a:r>
          </a:p>
          <a:p xmlns:a="http://schemas.openxmlformats.org/drawingml/2006/main">
            <a:pPr>
              <a:defRPr sz="1800" b="1">
                <a:solidFill>
                  <a:srgbClr val="57925B"/>
                </a:solidFill>
              </a:defRPr>
            </a:pPr>
            <a:r>
              <a:rPr sz="1800" b="1">
                <a:solidFill>
                  <a:srgbClr val="57925B"/>
                </a:solidFill>
              </a:rPr>
              <a:t>+ 생활인구 18%</a:t>
            </a:r>
          </a:p>
          <a:p xmlns:a="http://schemas.openxmlformats.org/drawingml/2006/main">
            <a:pPr>
              <a:defRPr sz="1800" b="1">
                <a:solidFill>
                  <a:srgbClr val="57925B"/>
                </a:solidFill>
              </a:defRPr>
            </a:pPr>
            <a:r>
              <a:rPr sz="1800" b="1">
                <a:solidFill>
                  <a:srgbClr val="57925B"/>
                </a:solidFill>
              </a:rPr>
              <a:t>+ 문화공간 3개</a:t>
            </a:r>
          </a:p>
          <a:p xmlns:a="http://schemas.openxmlformats.org/drawingml/2006/main">
            <a:pPr>
              <a:defRPr sz="1800" b="1">
                <a:solidFill>
                  <a:srgbClr val="57925B"/>
                </a:solidFill>
              </a:defRPr>
            </a:pPr>
            <a:r>
              <a:rPr sz="1800" b="1">
                <a:solidFill>
                  <a:srgbClr val="57925B"/>
                </a:solidFill>
              </a:rPr>
              <a:t>+ 아직 과밀하지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4D9E8-4EE5-44A2-94AE-0783598B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5</a:t>
            </a:r>
          </a:p>
        </p:txBody>
      </p:sp>
    </p:spTree>
    <p:extLst>
      <p:ext uri="{BB962C8B-B14F-4D97-AF65-F5344CB8AC3E}">
        <p14:creationId xmlns:p14="http://schemas.microsoft.com/office/powerpoint/2010/main" val="9681067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55B68-5C69-4A39-9020-EC0EAF2D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05 ·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769A8-E339-4766-A7B0-4E1DE50C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처음부터 구독을 팔기보다, 의사결정에 필요한 리포트부터 검증합니다.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88BE3-C4C2-4FBE-AEA1-5CF37971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09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6F04F-88EE-4323-9805-3C9D7771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925B"/>
                </a:solidFill>
              </a:defRPr>
            </a:pPr>
            <a:r>
              <a:rPr sz="1350" b="1">
                <a:solidFill>
                  <a:srgbClr val="57925B"/>
                </a:solidFill>
              </a:rPr>
              <a:t>지금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BE7F2-101D-4965-9CF2-DA278BCF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90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31D"/>
                </a:solidFill>
              </a:defRPr>
            </a:pPr>
            <a:r>
              <a:rPr sz="1575" b="1">
                <a:solidFill>
                  <a:srgbClr val="18231D"/>
                </a:solidFill>
              </a:rPr>
              <a:t>개인 사용자 무료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1F6AE-6B37-4DF9-9F6C-93181EC3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168"/>
                </a:solidFill>
              </a:defRPr>
            </a:pPr>
            <a:r>
              <a:rPr sz="1275" b="0">
                <a:solidFill>
                  <a:srgbClr val="637168"/>
                </a:solidFill>
              </a:rPr>
              <a:t>키워드 탐색·지도·상세 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76638-0B59-47EB-A6E2-BE1E6A3D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09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CD201-9608-4415-BFF8-49E5203D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4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925B"/>
                </a:solidFill>
              </a:defRPr>
            </a:pPr>
            <a:r>
              <a:rPr sz="1350" b="1">
                <a:solidFill>
                  <a:srgbClr val="57925B"/>
                </a:solidFill>
              </a:rPr>
              <a:t>초기 매출 실험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8DA20-1E86-4B9A-94FD-9297524F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86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31D"/>
                </a:solidFill>
              </a:defRPr>
            </a:pPr>
            <a:r>
              <a:rPr sz="1575" b="1">
                <a:solidFill>
                  <a:srgbClr val="18231D"/>
                </a:solidFill>
              </a:rPr>
              <a:t>1회성 출점 후보지 리포트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7158F-9E7C-487C-BCDF-C0C7AAE1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146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168"/>
                </a:solidFill>
              </a:defRPr>
            </a:pPr>
            <a:r>
              <a:rPr sz="1275" b="0">
                <a:solidFill>
                  <a:srgbClr val="637168"/>
                </a:solidFill>
              </a:rPr>
              <a:t>브랜드에 맞는 다음 후보 5곳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A53FC-0D7A-4F10-90AA-59AA12FA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09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E748A-C01A-4915-A36B-1BEC6FFE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925B"/>
                </a:solidFill>
              </a:defRPr>
            </a:pPr>
            <a:r>
              <a:rPr sz="1350" b="1">
                <a:solidFill>
                  <a:srgbClr val="57925B"/>
                </a:solidFill>
              </a:rPr>
              <a:t>장기 확장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7F051-F891-4561-B887-4A896522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814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31D"/>
                </a:solidFill>
              </a:defRPr>
            </a:pPr>
            <a:r>
              <a:rPr sz="1575" b="1">
                <a:solidFill>
                  <a:srgbClr val="18231D"/>
                </a:solidFill>
              </a:rPr>
              <a:t>프랜차이즈·공공기관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63F47-59CB-43E0-8D9A-4B0C877E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168"/>
                </a:solidFill>
              </a:defRPr>
            </a:pPr>
            <a:r>
              <a:rPr sz="1275" b="0">
                <a:solidFill>
                  <a:srgbClr val="637168"/>
                </a:solidFill>
              </a:rPr>
              <a:t>입지 분석·지역 변화 모니터링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90629-CBCF-4D97-81B4-2E496843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9228"/>
                </a:solidFill>
              </a:defRPr>
            </a:pPr>
            <a:r>
              <a:rPr sz="1350" b="1">
                <a:solidFill>
                  <a:srgbClr val="E99228"/>
                </a:solidFill>
              </a:rPr>
              <a:t>가격과 구매 가능성은 모두 검증이 필요한 가설입니다.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94CE6-6BEA-4ED1-BB0C-B2DCCAF5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6</a:t>
            </a:r>
          </a:p>
        </p:txBody>
      </p:sp>
    </p:spTree>
    <p:extLst>
      <p:ext uri="{BB962C8B-B14F-4D97-AF65-F5344CB8AC3E}">
        <p14:creationId xmlns:p14="http://schemas.microsoft.com/office/powerpoint/2010/main" val="1687428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8F5C53-4889-4A0D-8A38-140B4B21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06 · MVP &amp;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7FFE1-7FA0-4C06-9312-E0E3F40A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5시간 안에 검증할 것은 “예측의 정확도”보다 “발견 경험의 가치”입니다.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28E74-A7C1-4E35-A594-A22BFE20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095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C4B36"/>
          </a:solidFill>
          <a:ln xmlns:a="http://schemas.openxmlformats.org/drawingml/2006/main" w="0">
            <a:solidFill>
              <a:srgbClr val="1C4B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CCED1-7BA2-477D-8716-27F23BE4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1. 키워드 입력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4BA73-CD27-4EC7-B697-14021E91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E9D1"/>
                </a:solidFill>
              </a:defRPr>
            </a:pPr>
            <a:r>
              <a:rPr sz="1125" b="0">
                <a:solidFill>
                  <a:srgbClr val="D8E9D1"/>
                </a:solidFill>
              </a:rPr>
              <a:t>검색 완료율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2B7B4-678D-429D-BDFB-BABFBC8F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95500"/>
            <a:ext cx="2095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CFC27-AD53-4418-B71B-D271CD60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31D"/>
                </a:solidFill>
              </a:defRPr>
            </a:pPr>
            <a:r>
              <a:rPr sz="1500" b="1">
                <a:solidFill>
                  <a:srgbClr val="18231D"/>
                </a:solidFill>
              </a:rPr>
              <a:t>2. 지도·추천 결과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63203-3345-4DFB-9A90-A4055D63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52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168"/>
                </a:solidFill>
              </a:defRPr>
            </a:pPr>
            <a:r>
              <a:rPr sz="1125" b="0">
                <a:solidFill>
                  <a:srgbClr val="637168"/>
                </a:solidFill>
              </a:rPr>
              <a:t>카드 클릭률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0859F-75C1-4F59-BA1B-497095C7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2095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CED84-EE29-4E65-A5B3-00596522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31D"/>
                </a:solidFill>
              </a:defRPr>
            </a:pPr>
            <a:r>
              <a:rPr sz="1500" b="1">
                <a:solidFill>
                  <a:srgbClr val="18231D"/>
                </a:solidFill>
              </a:rPr>
              <a:t>3. 상세 근거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4309A-C7F9-447B-A7D1-0181EFD2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168"/>
                </a:solidFill>
              </a:defRPr>
            </a:pPr>
            <a:r>
              <a:rPr sz="1125" b="0">
                <a:solidFill>
                  <a:srgbClr val="637168"/>
                </a:solidFill>
              </a:rPr>
              <a:t>상세 진입률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167F0-1A0C-489B-B9BC-04E07012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95500"/>
            <a:ext cx="2095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C55C4-5B28-4958-BFA6-21432294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31D"/>
                </a:solidFill>
              </a:defRPr>
            </a:pPr>
            <a:r>
              <a:rPr sz="1500" b="1">
                <a:solidFill>
                  <a:srgbClr val="18231D"/>
                </a:solidFill>
              </a:rPr>
              <a:t>4. 저장·공유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68402-AD4A-4991-BBA3-067AA13B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52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168"/>
                </a:solidFill>
              </a:defRPr>
            </a:pPr>
            <a:r>
              <a:rPr sz="1125" b="0">
                <a:solidFill>
                  <a:srgbClr val="637168"/>
                </a:solidFill>
              </a:rPr>
              <a:t>저장·공유율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E6C11-2A03-480C-B714-27681C06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31D"/>
                </a:solidFill>
              </a:defRPr>
            </a:pPr>
            <a:r>
              <a:rPr sz="1800" b="1">
                <a:solidFill>
                  <a:srgbClr val="18231D"/>
                </a:solidFill>
              </a:rPr>
              <a:t>NEXT SPOT은 먼저 개인의 다음 동네 발견을 무료로 해결하고, 이후 출점 의사결정 데이터로 확장합니다.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F8944-C1E2-4012-8D20-1E4638C8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7</a:t>
            </a:r>
          </a:p>
        </p:txBody>
      </p:sp>
    </p:spTree>
    <p:extLst>
      <p:ext uri="{BB962C8B-B14F-4D97-AF65-F5344CB8AC3E}">
        <p14:creationId xmlns:p14="http://schemas.microsoft.com/office/powerpoint/2010/main" val="2060556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2026-08-18T10:59:42.6480000Z</dcterms:created>
  <dcterms:modified xsi:type="dcterms:W3CDTF">2026-08-18T10:59:42.6480000Z</dcterms:modified>
</coreProperties>
</file>