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7ae05ebdb34d42" /><Relationship Type="http://schemas.openxmlformats.org/officeDocument/2006/relationships/extended-properties" Target="/docProps/app.xml" Id="R71859e0ca71a4ae0" /><Relationship Type="http://schemas.openxmlformats.org/officeDocument/2006/relationships/officeDocument" Target="/ppt/presentation.xml" Id="R2d6c40ff13d843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e2152468744e99"/>
  </p:sldMasterIdLst>
  <p:notesMasterIdLst>
    <p:notesMasterId xmlns:r="http://schemas.openxmlformats.org/officeDocument/2006/relationships" r:id="R183a866389934b26"/>
  </p:notesMasterIdLst>
  <p:sldIdLst>
    <p:sldId xmlns:r="http://schemas.openxmlformats.org/officeDocument/2006/relationships" id="256" r:id="R73e89715da214e87"/>
    <p:sldId xmlns:r="http://schemas.openxmlformats.org/officeDocument/2006/relationships" id="257" r:id="R3bcaa65573024e01"/>
    <p:sldId xmlns:r="http://schemas.openxmlformats.org/officeDocument/2006/relationships" id="258" r:id="Rc9da6936a7cb4e1b"/>
    <p:sldId xmlns:r="http://schemas.openxmlformats.org/officeDocument/2006/relationships" id="259" r:id="R256cf4b135044fe9"/>
    <p:sldId xmlns:r="http://schemas.openxmlformats.org/officeDocument/2006/relationships" id="260" r:id="R7a6525644af149a2"/>
    <p:sldId xmlns:r="http://schemas.openxmlformats.org/officeDocument/2006/relationships" id="261" r:id="R49689bb303c84c54"/>
    <p:sldId xmlns:r="http://schemas.openxmlformats.org/officeDocument/2006/relationships" id="262" r:id="Ra58aa1b1eba54a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9f53d692dc0424d" /><Relationship Type="http://schemas.openxmlformats.org/officeDocument/2006/relationships/slideMaster" Target="/ppt/slideMasters/slideMaster1.xml" Id="R70e2152468744e99" /><Relationship Type="http://schemas.openxmlformats.org/officeDocument/2006/relationships/notesMaster" Target="/ppt/notesMasters/notesMaster1.xml" Id="R183a866389934b26" /><Relationship Type="http://schemas.openxmlformats.org/officeDocument/2006/relationships/presProps" Target="/ppt/presProps.xml" Id="R31adc8b346fd4a2f" /><Relationship Type="http://schemas.openxmlformats.org/officeDocument/2006/relationships/tableStyles" Target="/ppt/tableStyles.xml" Id="R682d9081c6a3484f" /><Relationship Type="http://schemas.openxmlformats.org/officeDocument/2006/relationships/slide" Target="/ppt/slides/slide1.xml" Id="R73e89715da214e87" /><Relationship Type="http://schemas.openxmlformats.org/officeDocument/2006/relationships/slide" Target="/ppt/slides/slide2.xml" Id="R3bcaa65573024e01" /><Relationship Type="http://schemas.openxmlformats.org/officeDocument/2006/relationships/slide" Target="/ppt/slides/slide3.xml" Id="Rc9da6936a7cb4e1b" /><Relationship Type="http://schemas.openxmlformats.org/officeDocument/2006/relationships/slide" Target="/ppt/slides/slide4.xml" Id="R256cf4b135044fe9" /><Relationship Type="http://schemas.openxmlformats.org/officeDocument/2006/relationships/slide" Target="/ppt/slides/slide5.xml" Id="R7a6525644af149a2" /><Relationship Type="http://schemas.openxmlformats.org/officeDocument/2006/relationships/slide" Target="/ppt/slides/slide6.xml" Id="R49689bb303c84c54" /><Relationship Type="http://schemas.openxmlformats.org/officeDocument/2006/relationships/slide" Target="/ppt/slides/slide7.xml" Id="Ra58aa1b1eba54a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260011a2254df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04464e204748d0" /><Relationship Type="http://schemas.openxmlformats.org/officeDocument/2006/relationships/notesMaster" Target="/ppt/notesMasters/notesMaster1.xml" Id="R13db514cf2e6436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6a6215c72c4ba1" /><Relationship Type="http://schemas.openxmlformats.org/officeDocument/2006/relationships/notesMaster" Target="/ppt/notesMasters/notesMaster1.xml" Id="R6e7633f5bd9d422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b3fe5cd7ed4c60" /><Relationship Type="http://schemas.openxmlformats.org/officeDocument/2006/relationships/notesMaster" Target="/ppt/notesMasters/notesMaster1.xml" Id="R30a1e73b5ac44b8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18c5f133c954b0e" /><Relationship Type="http://schemas.openxmlformats.org/officeDocument/2006/relationships/notesMaster" Target="/ppt/notesMasters/notesMaster1.xml" Id="Rbd757859508d4ad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a09be842d7e4632" /><Relationship Type="http://schemas.openxmlformats.org/officeDocument/2006/relationships/notesMaster" Target="/ppt/notesMasters/notesMaster1.xml" Id="R60cf9c93bd2246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0a8cb007dc4bf7" /><Relationship Type="http://schemas.openxmlformats.org/officeDocument/2006/relationships/notesMaster" Target="/ppt/notesMasters/notesMaster1.xml" Id="Rfea28105830646d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3c5931c78824537" /><Relationship Type="http://schemas.openxmlformats.org/officeDocument/2006/relationships/notesMaster" Target="/ppt/notesMasters/notesMaster1.xml" Id="Rc443333ff5e5410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58e3c36774fe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4086af8fae949b9" /><Relationship Type="http://schemas.openxmlformats.org/officeDocument/2006/relationships/slideLayout" Target="/ppt/slideLayouts/slideLayout1.xml" Id="Re6aba9f6ea714a5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aba9f6ea714a5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056260d0934859" /><Relationship Type="http://schemas.openxmlformats.org/officeDocument/2006/relationships/notesSlide" Target="/ppt/notesSlides/notesSlide1.xml" Id="Ra86420f28c314f6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12d9c74d74cd0" /><Relationship Type="http://schemas.openxmlformats.org/officeDocument/2006/relationships/notesSlide" Target="/ppt/notesSlides/notesSlide2.xml" Id="R6cad02c803ea49e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fe36f0db784a2f" /><Relationship Type="http://schemas.openxmlformats.org/officeDocument/2006/relationships/notesSlide" Target="/ppt/notesSlides/notesSlide3.xml" Id="R277ccbd97fa844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69acb7a5349d9" /><Relationship Type="http://schemas.openxmlformats.org/officeDocument/2006/relationships/notesSlide" Target="/ppt/notesSlides/notesSlide4.xml" Id="R12ccd9e9bc8a449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0245135c74a7c" /><Relationship Type="http://schemas.openxmlformats.org/officeDocument/2006/relationships/notesSlide" Target="/ppt/notesSlides/notesSlide5.xml" Id="R86d648f7440443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ce0ab8602b479d" /><Relationship Type="http://schemas.openxmlformats.org/officeDocument/2006/relationships/notesSlide" Target="/ppt/notesSlides/notesSlide6.xml" Id="R5cc5c87ef9f342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a92368f0e04f5c" /><Relationship Type="http://schemas.openxmlformats.org/officeDocument/2006/relationships/notesSlide" Target="/ppt/notesSlides/notesSlide7.xml" Id="R2377ddf11c43458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4B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3A9C4-3C44-43FE-BD03-EFC94E13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19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CECC9"/>
                </a:solidFill>
              </a:defRPr>
            </a:pPr>
            <a:r>
              <a:rPr sz="1500" b="1">
                <a:solidFill>
                  <a:srgbClr val="DCECC9"/>
                </a:solidFill>
              </a:rPr>
              <a:t>NEXT SPOT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772088-0078-47B5-A7E0-B96451FBD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19250"/>
            <a:ext cx="9048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“서울은 너무 붐비고…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새로운 곳은 어디 없을까?”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B3D82B-C175-458B-B870-82FEFD63D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9DDCC"/>
                </a:solidFill>
              </a:defRPr>
            </a:pPr>
            <a:r>
              <a:rPr sz="1650" b="0">
                <a:solidFill>
                  <a:srgbClr val="C9DDCC"/>
                </a:solidFill>
              </a:rPr>
              <a:t>퇴근 후 혼자 쉬고 싶은 날, 주말에 조용한 데이트를 하고 싶은 날</a:t>
            </a:r>
          </a:p>
          <a:p xmlns:a="http://schemas.openxmlformats.org/drawingml/2006/main">
            <a:pPr>
              <a:defRPr sz="1650" b="0">
                <a:solidFill>
                  <a:srgbClr val="C9DDCC"/>
                </a:solidFill>
              </a:defRPr>
            </a:pPr>
            <a:r>
              <a:rPr sz="1650" b="0">
                <a:solidFill>
                  <a:srgbClr val="C9DDCC"/>
                </a:solidFill>
              </a:rPr>
              <a:t>우리는 이미 유명해진 핫플 말고 아직 과밀하지 않은 동네를 찾습니다.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335E59-F5EF-467B-A295-7203D807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2925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CC9"/>
                </a:solidFill>
              </a:defRPr>
            </a:pPr>
            <a:r>
              <a:rPr sz="1350" b="1">
                <a:solidFill>
                  <a:srgbClr val="DCECC9"/>
                </a:solidFill>
              </a:rPr>
              <a:t>그 질문에서 NEXT SPOT이 시작됐습니다.</a:t>
            </a:r>
          </a:p>
        </p:txBody>
      </p:sp>
    </p:spTree>
    <p:extLst>
      <p:ext uri="{BB962C8B-B14F-4D97-AF65-F5344CB8AC3E}">
        <p14:creationId xmlns:p14="http://schemas.microsoft.com/office/powerpoint/2010/main" val="970324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C00082-730D-4615-85A5-7D99F68A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01 · USER SCENARIO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FDFA36-1E59-4C39-BC9F-F8255CD8D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사용자의 진짜 질문은 “어디가 유명해?”가 아니라 “어디가 곧 좋아질까?”입니다.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83764F-6E43-47F9-9607-0CA88C0B2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287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8231D"/>
                </a:solidFill>
              </a:defRPr>
            </a:pPr>
            <a:r>
              <a:rPr sz="1800" b="0">
                <a:solidFill>
                  <a:srgbClr val="18231D"/>
                </a:solidFill>
              </a:rPr>
              <a:t>퇴근 후, 이미 붐비는 성수·연남 대신 조용하지만 분위기 있는 동네를 찾는다.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8E2D1-6FDD-46B5-BAD3-782272FE6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C34ADA-4202-44BC-A570-25DF13DE2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7168"/>
                </a:solidFill>
              </a:defRPr>
            </a:pPr>
            <a:r>
              <a:rPr sz="1350" b="1">
                <a:solidFill>
                  <a:srgbClr val="637168"/>
                </a:solidFill>
              </a:rPr>
              <a:t>상황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987BA3-20EE-4230-B63B-61422C0D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718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D"/>
                </a:solidFill>
              </a:defRPr>
            </a:pPr>
            <a:r>
              <a:rPr sz="1725" b="1">
                <a:solidFill>
                  <a:srgbClr val="18231D"/>
                </a:solidFill>
              </a:rPr>
              <a:t>사람은 많고, 대기는 싫다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2A8E6B-D10C-4F5D-9837-84A29C2E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76225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775C9D-67B8-4FD0-94BB-24FC56543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CECC9"/>
                </a:solidFill>
              </a:defRPr>
            </a:pPr>
            <a:r>
              <a:rPr sz="1350" b="1">
                <a:solidFill>
                  <a:srgbClr val="DCECC9"/>
                </a:solidFill>
              </a:rPr>
              <a:t>기존 행동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84626E-2CDC-4A95-A1F7-08ABC574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718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인스타그램·지도·AI에 검색한다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57473A-9925-416D-9B7A-0617A911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762250"/>
            <a:ext cx="323850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1EEE55-7D01-43C0-908E-A80087CC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48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637168"/>
                </a:solidFill>
              </a:defRPr>
            </a:pPr>
            <a:r>
              <a:rPr sz="1350" b="1">
                <a:solidFill>
                  <a:srgbClr val="637168"/>
                </a:solidFill>
              </a:rPr>
              <a:t>남은 문제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6F725D-AD83-4108-8D5F-9703CACC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71875"/>
            <a:ext cx="27146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8231D"/>
                </a:solidFill>
              </a:defRPr>
            </a:pPr>
            <a:r>
              <a:rPr sz="1725" b="1">
                <a:solidFill>
                  <a:srgbClr val="18231D"/>
                </a:solidFill>
              </a:rPr>
              <a:t>결과는 이미 유명한 장소 중심이다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8FD1B3-6292-4578-9C4F-056011AB1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2</a:t>
            </a:r>
          </a:p>
        </p:txBody>
      </p:sp>
    </p:spTree>
    <p:extLst>
      <p:ext uri="{BB962C8B-B14F-4D97-AF65-F5344CB8AC3E}">
        <p14:creationId xmlns:p14="http://schemas.microsoft.com/office/powerpoint/2010/main" val="5516974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B15CFE-4BF4-44E1-A647-D3A6DC0FB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02 ·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F9476E-EA35-4492-B667-8110121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키워드를 입력하면, 지도와 근거가 함께 나옵니다.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3F375E-C701-4BCC-B199-0DE08C506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333750" cy="4095750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F791E6-12FF-41B0-84F1-1E911AC7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47875"/>
            <a:ext cx="2667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31D"/>
                </a:solidFill>
              </a:defRPr>
            </a:pPr>
            <a:r>
              <a:rPr sz="1650" b="1">
                <a:solidFill>
                  <a:srgbClr val="18231D"/>
                </a:solidFill>
              </a:rPr>
              <a:t>어떤 동네를 찾고 있나요?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F7291F-2861-48CE-AC65-F928E816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주말에 조용한 데이트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0D0973-66B0-4ED4-9E0A-A98FDF3B3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25717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BC62F-4A9D-46FB-88F9-C463A3685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</a:defRPr>
            </a:pPr>
            <a:r>
              <a:rPr sz="1200" b="0">
                <a:solidFill>
                  <a:srgbClr val="FFFFFF"/>
                </a:solidFill>
              </a:rPr>
              <a:t>주말에 조용한 데이트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A4DD0-A147-475F-BBA5-697CAB04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37168"/>
                </a:solidFill>
              </a:defRPr>
            </a:pPr>
            <a:r>
              <a:rPr sz="1200" b="0">
                <a:solidFill>
                  <a:srgbClr val="637168"/>
                </a:solidFill>
              </a:rPr>
              <a:t>변화 신호를 검색하고 있어요…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E9226E-44CB-4789-B207-6B0E9485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14500"/>
            <a:ext cx="63817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E4EEDB"/>
          </a:solidFill>
          <a:ln xmlns:a="http://schemas.openxmlformats.org/drawingml/2006/main" w="0">
            <a:solidFill>
              <a:srgbClr val="E4EE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FA4379-95EF-4601-A5ED-606C5B962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0002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496046"/>
                </a:solidFill>
              </a:defRPr>
            </a:pPr>
            <a:r>
              <a:rPr sz="1350" b="1">
                <a:solidFill>
                  <a:srgbClr val="496046"/>
                </a:solidFill>
              </a:rPr>
              <a:t>서울 변화 신호 지도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7097EE-914A-4285-B5B4-839A1B54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2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E628D-6DD2-43FD-A915-9210CBD3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219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83ACB9-46B9-4A1C-A01F-9C80347A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7147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2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0F884-251F-4BB7-91DD-61D210CF4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8620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C8C26-B427-4C59-8FA1-9DB59CAE4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57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99228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444E17-3ECC-4770-BE4F-38BAF3515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0289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81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CD3D7E-D211-48E9-9597-E65BE1E2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238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8231D"/>
                </a:solidFill>
              </a:defRPr>
            </a:pPr>
            <a:r>
              <a:rPr sz="1350" b="1">
                <a:solidFill>
                  <a:srgbClr val="18231D"/>
                </a:solidFill>
              </a:rPr>
              <a:t>추천 리스트 · 연남동 · 망원동 · 문래동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05416-4C92-4B2B-BF2E-0034AC20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3</a:t>
            </a:r>
          </a:p>
        </p:txBody>
      </p:sp>
    </p:spTree>
    <p:extLst>
      <p:ext uri="{BB962C8B-B14F-4D97-AF65-F5344CB8AC3E}">
        <p14:creationId xmlns:p14="http://schemas.microsoft.com/office/powerpoint/2010/main" val="4879427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DB28B7-86CE-46EF-B9DD-FBFA61731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03 · DATA LOGIC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B13569-B9D4-442A-9E94-CE1E1C95F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NEXT SPOT 점수는 예측값이 아니라, 설명 가능한 신호의 조합입니다.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5AFF56-90A4-45E8-8BD8-C8F8D053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889448-533D-4D23-9B55-EFA768B77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변화 점수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A7C70-E054-493B-8576-865BC77A2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D8E9D1"/>
                </a:solidFill>
              </a:defRPr>
            </a:pPr>
            <a:r>
              <a:rPr sz="1350" b="0">
                <a:solidFill>
                  <a:srgbClr val="D8E9D1"/>
                </a:solidFill>
              </a:rPr>
              <a:t>신규 설치 · 인구/세대</a:t>
            </a:r>
          </a:p>
          <a:p xmlns:a="http://schemas.openxmlformats.org/drawingml/2006/main">
            <a:pPr>
              <a:defRPr sz="1350" b="0">
                <a:solidFill>
                  <a:srgbClr val="D8E9D1"/>
                </a:solidFill>
              </a:defRPr>
            </a:pPr>
            <a:r>
              <a:rPr sz="1350" b="0">
                <a:solidFill>
                  <a:srgbClr val="D8E9D1"/>
                </a:solidFill>
              </a:rPr>
              <a:t>입주 · 점포 · 문화공간 · 생활인구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D9D9F3-5133-475C-8E70-02687A02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576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DCECC9"/>
                </a:solidFill>
              </a:defRPr>
            </a:pPr>
            <a:r>
              <a:rPr sz="1875" b="1">
                <a:solidFill>
                  <a:srgbClr val="DCECC9"/>
                </a:solidFill>
              </a:rPr>
              <a:t>50%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585CB2-6EA3-4C02-B51E-6F84A53F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00025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6D89B2-14DD-4FF1-83BC-3509F319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31D"/>
                </a:solidFill>
              </a:defRPr>
            </a:pPr>
            <a:r>
              <a:rPr sz="1650" b="1">
                <a:solidFill>
                  <a:srgbClr val="18231D"/>
                </a:solidFill>
              </a:rPr>
              <a:t>발견 점수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7F8B6-62BD-423A-B778-B5CBE1BAE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9051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업종 다양성 · 문화 다양성</a:t>
            </a:r>
          </a:p>
          <a:p xmlns:a="http://schemas.openxmlformats.org/drawingml/2006/main">
            <a:pPr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혼잡도 페널티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F68548-666C-4BFB-84DE-34B85FE46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8576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7925B"/>
                </a:solidFill>
              </a:defRPr>
            </a:pPr>
            <a:r>
              <a:rPr sz="1875" b="1">
                <a:solidFill>
                  <a:srgbClr val="57925B"/>
                </a:solidFill>
              </a:rPr>
              <a:t>30%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5C778C-073C-4A7D-BBDC-F2660C96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000250"/>
            <a:ext cx="3238500" cy="2381250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ADC07C-11ED-436A-AF36-D563E513E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860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8231D"/>
                </a:solidFill>
              </a:defRPr>
            </a:pPr>
            <a:r>
              <a:rPr sz="1650" b="1">
                <a:solidFill>
                  <a:srgbClr val="18231D"/>
                </a:solidFill>
              </a:rPr>
              <a:t>방문 적합 점수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F54774-D939-4E42-B84E-6A095B375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05125"/>
            <a:ext cx="2714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현재 혼잡도 · 생활인구</a:t>
            </a:r>
          </a:p>
          <a:p xmlns:a="http://schemas.openxmlformats.org/drawingml/2006/main">
            <a:pPr>
              <a:defRPr sz="1350" b="0">
                <a:solidFill>
                  <a:srgbClr val="637168"/>
                </a:solidFill>
              </a:defRPr>
            </a:pPr>
            <a:r>
              <a:rPr sz="1350" b="0">
                <a:solidFill>
                  <a:srgbClr val="637168"/>
                </a:solidFill>
              </a:rPr>
              <a:t>카페·식사·문화 연결성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780A8-CFA4-4FF0-9B0E-5C9D03B57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8576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7925B"/>
                </a:solidFill>
              </a:defRPr>
            </a:pPr>
            <a:r>
              <a:rPr sz="1875" b="1">
                <a:solidFill>
                  <a:srgbClr val="57925B"/>
                </a:solidFill>
              </a:rPr>
              <a:t>20%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4DB408-0277-4BE4-AC3B-8914FCA01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8231D"/>
                </a:solidFill>
              </a:defRPr>
            </a:pPr>
            <a:r>
              <a:rPr sz="1500" b="0">
                <a:solidFill>
                  <a:srgbClr val="18231D"/>
                </a:solidFill>
              </a:rPr>
              <a:t>모든 입력값은 0~100으로 정규화하며, 각 지역의 기여 요인을 함께 보여줍니다.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1CB394-100F-4EB5-9086-BC38396B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4</a:t>
            </a:r>
          </a:p>
        </p:txBody>
      </p:sp>
    </p:spTree>
    <p:extLst>
      <p:ext uri="{BB962C8B-B14F-4D97-AF65-F5344CB8AC3E}">
        <p14:creationId xmlns:p14="http://schemas.microsoft.com/office/powerpoint/2010/main" val="208041177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2BFA20-03FE-4F6C-95AA-15F6C3E59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04 · TRANSPARENT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02803-C08D-44C6-811C-36EA71085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NEXT SPOT의 핵심은 “왜 추천했는가”를 보여주는 것입니다.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A1FE6-AE6C-4F8B-82BE-C9D5AE4E3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CBF94-E6DC-4B3C-92DB-C4B6B79D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907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연남동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8AF8A0-C23F-4745-8518-978ECA3A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DCECC9"/>
                </a:solidFill>
              </a:defRPr>
            </a:pPr>
            <a:r>
              <a:rPr sz="1050" b="1">
                <a:solidFill>
                  <a:srgbClr val="DCECC9"/>
                </a:solidFill>
              </a:rPr>
              <a:t>NEXT SPOT SCORE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BE3406-F651-48DB-9A15-4F7E1D130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43250"/>
            <a:ext cx="142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87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289AB4-BCDD-4B24-BCF4-F8F311B9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D8E9D1"/>
                </a:solidFill>
              </a:defRPr>
            </a:pPr>
            <a:r>
              <a:rPr sz="1275" b="0">
                <a:solidFill>
                  <a:srgbClr val="D8E9D1"/>
                </a:solidFill>
              </a:rPr>
              <a:t>현재 혼잡도 62/100 · 보통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48F9AC-C64B-4D3D-9432-896AEB330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809750"/>
            <a:ext cx="4857750" cy="352425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5775A1-F98E-4727-9E2B-49277009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43125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31D"/>
                </a:solidFill>
              </a:defRPr>
            </a:pPr>
            <a:r>
              <a:rPr sz="1800" b="1">
                <a:solidFill>
                  <a:srgbClr val="18231D"/>
                </a:solidFill>
              </a:rPr>
              <a:t>왜 뜨는가?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CF98F-48EE-4BD4-BBE9-42B0CAA7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3429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신규 점포 32%</a:t>
            </a:r>
          </a:p>
          <a:p xmlns:a="http://schemas.openxmlformats.org/drawingml/2006/main">
            <a:pPr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생활인구 18%</a:t>
            </a:r>
          </a:p>
          <a:p xmlns:a="http://schemas.openxmlformats.org/drawingml/2006/main">
            <a:pPr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문화공간 3개</a:t>
            </a:r>
          </a:p>
          <a:p xmlns:a="http://schemas.openxmlformats.org/drawingml/2006/main">
            <a:pPr>
              <a:defRPr sz="1800" b="1">
                <a:solidFill>
                  <a:srgbClr val="57925B"/>
                </a:solidFill>
              </a:defRPr>
            </a:pPr>
            <a:r>
              <a:rPr sz="1800" b="1">
                <a:solidFill>
                  <a:srgbClr val="57925B"/>
                </a:solidFill>
              </a:rPr>
              <a:t>+ 아직 과밀하지 않음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0B9EF-C021-439F-8EA7-5DD819F5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5</a:t>
            </a:r>
          </a:p>
        </p:txBody>
      </p:sp>
    </p:spTree>
    <p:extLst>
      <p:ext uri="{BB962C8B-B14F-4D97-AF65-F5344CB8AC3E}">
        <p14:creationId xmlns:p14="http://schemas.microsoft.com/office/powerpoint/2010/main" val="2667575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CAC00E-C230-47AF-9244-28CC9E91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05 · BUSINESS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F29295-6F9E-43DE-8CB5-5E407437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처음부터 구독을 팔기보다, 의사결정에 필요한 리포트부터 검증합니다.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88DED9-A948-4BF4-B5AB-82EEA495A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09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ACFC6-49FE-4F4E-9E59-BC44017B6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925B"/>
                </a:solidFill>
              </a:defRPr>
            </a:pPr>
            <a:r>
              <a:rPr sz="1350" b="1">
                <a:solidFill>
                  <a:srgbClr val="57925B"/>
                </a:solidFill>
              </a:rPr>
              <a:t>지금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D1C94E-4FB4-4E4C-B6D8-A60D33F09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99072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31D"/>
                </a:solidFill>
              </a:defRPr>
            </a:pPr>
            <a:r>
              <a:rPr sz="1575" b="1">
                <a:solidFill>
                  <a:srgbClr val="18231D"/>
                </a:solidFill>
              </a:rPr>
              <a:t>개인 사용자 무료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76FC1E-8623-4A4D-B554-76F9946D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193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168"/>
                </a:solidFill>
              </a:defRPr>
            </a:pPr>
            <a:r>
              <a:rPr sz="1275" b="0">
                <a:solidFill>
                  <a:srgbClr val="637168"/>
                </a:solidFill>
              </a:rPr>
              <a:t>키워드 탐색·지도·상세 근거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BC83F2-4AFC-4285-8D7A-9C8334BDC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1009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85A75-7D3C-4A25-B8AD-CBFF0FD61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14675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925B"/>
                </a:solidFill>
              </a:defRPr>
            </a:pPr>
            <a:r>
              <a:rPr sz="1350" b="1">
                <a:solidFill>
                  <a:srgbClr val="57925B"/>
                </a:solidFill>
              </a:rPr>
              <a:t>초기 매출 실험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848DB6-5100-4F37-92B5-2242D98B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861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31D"/>
                </a:solidFill>
              </a:defRPr>
            </a:pPr>
            <a:r>
              <a:rPr sz="1575" b="1">
                <a:solidFill>
                  <a:srgbClr val="18231D"/>
                </a:solidFill>
              </a:rPr>
              <a:t>1회성 출점 후보지 리포트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BAB0A5-C63A-452D-9DEE-8723877D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1467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168"/>
                </a:solidFill>
              </a:defRPr>
            </a:pPr>
            <a:r>
              <a:rPr sz="1275" b="0">
                <a:solidFill>
                  <a:srgbClr val="637168"/>
                </a:solidFill>
              </a:rPr>
              <a:t>브랜드에 맞는 다음 후보 5곳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C6323-9A6D-4EFA-97B2-A33890982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09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891152-B9A4-48CC-BFEC-46BF8AFB1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7925B"/>
                </a:solidFill>
              </a:defRPr>
            </a:pPr>
            <a:r>
              <a:rPr sz="1350" b="1">
                <a:solidFill>
                  <a:srgbClr val="57925B"/>
                </a:solidFill>
              </a:rPr>
              <a:t>장기 확장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9E410F-4E46-4DF3-AA9D-25D9992AE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814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8231D"/>
                </a:solidFill>
              </a:defRPr>
            </a:pPr>
            <a:r>
              <a:rPr sz="1575" b="1">
                <a:solidFill>
                  <a:srgbClr val="18231D"/>
                </a:solidFill>
              </a:rPr>
              <a:t>프랜차이즈·공공기관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519C43-880B-4479-BF90-712EAECA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21005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37168"/>
                </a:solidFill>
              </a:defRPr>
            </a:pPr>
            <a:r>
              <a:rPr sz="1275" b="0">
                <a:solidFill>
                  <a:srgbClr val="637168"/>
                </a:solidFill>
              </a:rPr>
              <a:t>입지 분석·지역 변화 모니터링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D9339-AA20-4F11-95D3-0E0A6DC8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E99228"/>
                </a:solidFill>
              </a:defRPr>
            </a:pPr>
            <a:r>
              <a:rPr sz="1350" b="1">
                <a:solidFill>
                  <a:srgbClr val="E99228"/>
                </a:solidFill>
              </a:rPr>
              <a:t>가격과 구매 가능성은 모두 검증이 필요한 가설입니다.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3CD37E-CFD4-4484-AB69-BED78180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6</a:t>
            </a:r>
          </a:p>
        </p:txBody>
      </p:sp>
    </p:spTree>
    <p:extLst>
      <p:ext uri="{BB962C8B-B14F-4D97-AF65-F5344CB8AC3E}">
        <p14:creationId xmlns:p14="http://schemas.microsoft.com/office/powerpoint/2010/main" val="21108152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B6C9AF-E8F8-49C9-8C49-36AB40D0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7925B"/>
                </a:solidFill>
              </a:defRPr>
            </a:pPr>
            <a:r>
              <a:rPr sz="1050" b="1">
                <a:solidFill>
                  <a:srgbClr val="57925B"/>
                </a:solidFill>
              </a:rPr>
              <a:t>06 · MVP &amp; NEXT STEP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BBC56A-2062-4661-9E3A-1FEE79610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8231D"/>
                </a:solidFill>
              </a:defRPr>
            </a:pPr>
            <a:r>
              <a:rPr sz="2850" b="1">
                <a:solidFill>
                  <a:srgbClr val="18231D"/>
                </a:solidFill>
              </a:rPr>
              <a:t>5시간 안에 검증할 것은 “예측의 정확도”보다 “발견 경험의 가치”입니다.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08AC36-F682-4A56-B169-265A80465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1C4B36"/>
          </a:solidFill>
          <a:ln xmlns:a="http://schemas.openxmlformats.org/drawingml/2006/main" w="0">
            <a:solidFill>
              <a:srgbClr val="1C4B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808467-470E-494F-A0A7-93D9431E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1. 키워드 입력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EF971C-FFA5-4B17-80AD-C477F1A89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52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D8E9D1"/>
                </a:solidFill>
              </a:defRPr>
            </a:pPr>
            <a:r>
              <a:rPr sz="1125" b="0">
                <a:solidFill>
                  <a:srgbClr val="D8E9D1"/>
                </a:solidFill>
              </a:rPr>
              <a:t>검색 완료율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DF29C2-D805-4EAD-BFC7-044509B0E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5175" y="209550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B297C0-A1BC-4926-BEB8-086AAE522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31D"/>
                </a:solidFill>
              </a:defRPr>
            </a:pPr>
            <a:r>
              <a:rPr sz="1500" b="1">
                <a:solidFill>
                  <a:srgbClr val="18231D"/>
                </a:solidFill>
              </a:rPr>
              <a:t>2. 지도·추천 결과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AA47CA-A899-49FB-9312-9F37BF57D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952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168"/>
                </a:solidFill>
              </a:defRPr>
            </a:pPr>
            <a:r>
              <a:rPr sz="1125" b="0">
                <a:solidFill>
                  <a:srgbClr val="637168"/>
                </a:solidFill>
              </a:rPr>
              <a:t>카드 클릭률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9C43BD-BAA2-467C-98B6-83A83F85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09550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23DC5D-32E9-4CFB-93B5-B9914965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31D"/>
                </a:solidFill>
              </a:defRPr>
            </a:pPr>
            <a:r>
              <a:rPr sz="1500" b="1">
                <a:solidFill>
                  <a:srgbClr val="18231D"/>
                </a:solidFill>
              </a:rPr>
              <a:t>3. 상세 근거 확인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4DE3DE-DFBB-45D1-BEE5-160F1B1AA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952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168"/>
                </a:solidFill>
              </a:defRPr>
            </a:pPr>
            <a:r>
              <a:rPr sz="1125" b="0">
                <a:solidFill>
                  <a:srgbClr val="637168"/>
                </a:solidFill>
              </a:rPr>
              <a:t>상세 진입률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E57BAC-003A-44D2-80D7-8672CF2B6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095500"/>
            <a:ext cx="20955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EAF1E5"/>
          </a:solidFill>
          <a:ln xmlns:a="http://schemas.openxmlformats.org/drawingml/2006/main" w="0">
            <a:solidFill>
              <a:srgbClr val="EAF1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B1574-A200-401F-8EC0-59BD53318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76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8231D"/>
                </a:solidFill>
              </a:defRPr>
            </a:pPr>
            <a:r>
              <a:rPr sz="1500" b="1">
                <a:solidFill>
                  <a:srgbClr val="18231D"/>
                </a:solidFill>
              </a:rPr>
              <a:t>4. 저장·공유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444105-6220-4DE1-B226-7C1577B5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9527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37168"/>
                </a:solidFill>
              </a:defRPr>
            </a:pPr>
            <a:r>
              <a:rPr sz="1125" b="0">
                <a:solidFill>
                  <a:srgbClr val="637168"/>
                </a:solidFill>
              </a:rPr>
              <a:t>저장·공유율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9BF65C-58D1-49F5-A98C-324F671B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8231D"/>
                </a:solidFill>
              </a:defRPr>
            </a:pPr>
            <a:r>
              <a:rPr sz="1800" b="1">
                <a:solidFill>
                  <a:srgbClr val="18231D"/>
                </a:solidFill>
              </a:rPr>
              <a:t>NEXT SPOT은 먼저 개인의 다음 동네 발견을 무료로 해결하고, 이후 출점 의사결정 데이터로 확장합니다.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E927AD-EEEA-4AD8-81BF-34412635C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637168"/>
                </a:solidFill>
              </a:defRPr>
            </a:pPr>
            <a:r>
              <a:rPr sz="825" b="0">
                <a:solidFill>
                  <a:srgbClr val="637168"/>
                </a:solidFill>
              </a:rPr>
              <a:t>NEXT SPOT · MAWD Challenge MVP · 7</a:t>
            </a:r>
          </a:p>
        </p:txBody>
      </p:sp>
    </p:spTree>
    <p:extLst>
      <p:ext uri="{BB962C8B-B14F-4D97-AF65-F5344CB8AC3E}">
        <p14:creationId xmlns:p14="http://schemas.microsoft.com/office/powerpoint/2010/main" val="17529326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2026-08-18T11:17:46.5630000Z</dcterms:created>
  <dcterms:modified xsi:type="dcterms:W3CDTF">2026-08-18T11:17:46.5630000Z</dcterms:modified>
</coreProperties>
</file>