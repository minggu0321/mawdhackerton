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C3A9C4-3C44-43FE-BD03-EFC94E1326CA}"/>
              </a:ext>
            </a:extLst>
          </p:cNvPr>
          <p:cNvSpPr>
            <a:spLocks noGrp="1"/>
          </p:cNvSpPr>
          <p:nvPr/>
        </p:nvSpPr>
        <p:spPr>
          <a:xfrm>
            <a:off x="762000" y="8191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DCECC9"/>
                </a:solidFill>
              </a:defRPr>
            </a:pPr>
            <a:r>
              <a:rPr sz="1500" b="1">
                <a:solidFill>
                  <a:srgbClr val="DCECC9"/>
                </a:solidFill>
              </a:rPr>
              <a:t>NEXT SPOT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772088-0078-47B5-A7E0-B96451FBDB93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9048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“서울은 너무 붐비고…</a:t>
            </a:r>
          </a:p>
          <a:p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새로운 곳은 어디 없을까?”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B3D82B-C175-458B-B870-82FEFD63D835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퇴근 후 혼자 쉬고 싶은 날, 주말에 조용한 데이트를 하고 싶은 날</a:t>
            </a:r>
          </a:p>
          <a:p>
            <a:pPr>
              <a:buNone/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우리는 이미 유명해진 핫플 말고 아직 과밀하지 않은 동네를 찾습니다.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335E59-F5EF-467B-A295-7203D8073DF5}"/>
              </a:ext>
            </a:extLst>
          </p:cNvPr>
          <p:cNvSpPr>
            <a:spLocks noGrp="1"/>
          </p:cNvSpPr>
          <p:nvPr/>
        </p:nvSpPr>
        <p:spPr>
          <a:xfrm>
            <a:off x="800100" y="54292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그 질문에서 NEXT SPOT이 시작됐습니다.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03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C00082-730D-4615-85A5-7D99F68A5DF1}"/>
              </a:ext>
            </a:extLst>
          </p:cNvPr>
          <p:cNvSpPr>
            <a:spLocks noGrp="1"/>
          </p:cNvSpPr>
          <p:nvPr/>
        </p:nvSpPr>
        <p:spPr>
          <a:xfrm>
            <a:off x="685800" y="457814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01 · USER SCENARIO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FDFA36-1E59-4C39-BC9F-F8255CD8D3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사용자의 진짜 질문은 “어디가 유명해?”가 아니라 </a:t>
            </a:r>
          </a:p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“어디가 곧 좋아질까?”입니다.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83764F-6E43-47F9-9607-0CA88C0B2D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18231D"/>
                </a:solidFill>
              </a:defRPr>
            </a:pPr>
            <a:r>
              <a:rPr sz="1800" b="0">
                <a:solidFill>
                  <a:srgbClr val="18231D"/>
                </a:solidFill>
              </a:rPr>
              <a:t>퇴근 후, 이미 붐비는 성수·연남 대신 조용하지만 분위기 있는 동네를 찾는다.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898E2D1-6FDD-46B5-BAD3-782272FE6F1F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3238500" cy="1809750"/>
          </a:xfrm>
          <a:prstGeom prst="roundRect">
            <a:avLst>
              <a:gd name="adj" fmla="val 8421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C34ADA-4202-44BC-A570-25DF13DE2E03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상황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987BA3-20EE-4230-B63B-61422C0D8EF8}"/>
              </a:ext>
            </a:extLst>
          </p:cNvPr>
          <p:cNvSpPr>
            <a:spLocks noGrp="1"/>
          </p:cNvSpPr>
          <p:nvPr/>
        </p:nvSpPr>
        <p:spPr>
          <a:xfrm>
            <a:off x="914400" y="3571875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사람은 많고, 대기는 싫다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22A8E6B-D10C-4F5D-9837-84A29C2E831A}"/>
              </a:ext>
            </a:extLst>
          </p:cNvPr>
          <p:cNvSpPr>
            <a:spLocks noGrp="1"/>
          </p:cNvSpPr>
          <p:nvPr/>
        </p:nvSpPr>
        <p:spPr>
          <a:xfrm>
            <a:off x="4352925" y="2762250"/>
            <a:ext cx="3238500" cy="1809750"/>
          </a:xfrm>
          <a:prstGeom prst="roundRect">
            <a:avLst>
              <a:gd name="adj" fmla="val 8421"/>
            </a:avLst>
          </a:prstGeom>
          <a:solidFill>
            <a:srgbClr val="1C4B36"/>
          </a:solidFill>
          <a:ln w="0">
            <a:solidFill>
              <a:srgbClr val="1C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775C9D-67B8-4FD0-94BB-24FC5654340F}"/>
              </a:ext>
            </a:extLst>
          </p:cNvPr>
          <p:cNvSpPr>
            <a:spLocks noGrp="1"/>
          </p:cNvSpPr>
          <p:nvPr/>
        </p:nvSpPr>
        <p:spPr>
          <a:xfrm>
            <a:off x="4581525" y="3048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기존 행동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84626E-2CDC-4A95-A1F7-08ABC5746C69}"/>
              </a:ext>
            </a:extLst>
          </p:cNvPr>
          <p:cNvSpPr>
            <a:spLocks noGrp="1"/>
          </p:cNvSpPr>
          <p:nvPr/>
        </p:nvSpPr>
        <p:spPr>
          <a:xfrm>
            <a:off x="4581525" y="3571875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인스타그램·지도·AI에 </a:t>
            </a:r>
          </a:p>
          <a:p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검색한다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357473A-9925-416D-9B7A-0617A9118ADF}"/>
              </a:ext>
            </a:extLst>
          </p:cNvPr>
          <p:cNvSpPr>
            <a:spLocks noGrp="1"/>
          </p:cNvSpPr>
          <p:nvPr/>
        </p:nvSpPr>
        <p:spPr>
          <a:xfrm>
            <a:off x="8020050" y="2762250"/>
            <a:ext cx="3238500" cy="1809750"/>
          </a:xfrm>
          <a:prstGeom prst="roundRect">
            <a:avLst>
              <a:gd name="adj" fmla="val 8421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1EEE55-7D01-43C0-908E-A80087CCCE83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남은 PAIN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6F725D-AD83-4108-8D5F-9703CACC2E8B}"/>
              </a:ext>
            </a:extLst>
          </p:cNvPr>
          <p:cNvSpPr>
            <a:spLocks noGrp="1"/>
          </p:cNvSpPr>
          <p:nvPr/>
        </p:nvSpPr>
        <p:spPr>
          <a:xfrm>
            <a:off x="8248650" y="3571875"/>
            <a:ext cx="2714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결과는 이미 유명한 장소 중심이다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FD1B3-6292-4578-9C4F-056011AB1C2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2</a:t>
            </a:r>
          </a:p>
        </p:txBody>
      </p:sp>
    </p:spTree>
    <p:extLst>
      <p:ext uri="{BB962C8B-B14F-4D97-AF65-F5344CB8AC3E}">
        <p14:creationId xmlns:p14="http://schemas.microsoft.com/office/powerpoint/2010/main" val="55169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B15CFE-4BF4-44E1-A647-D3A6DC0FBEF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02 · EXPERIENCE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F9476E-EA35-4492-B667-8110121E2EA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키워드를 입력하면, 지도와 근거가 함께 나옵니다.</a:t>
            </a:r>
          </a:p>
        </p:txBody>
      </p:sp>
      <p:pic>
        <p:nvPicPr>
          <p:cNvPr id="23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33" y="1409700"/>
            <a:ext cx="8659433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4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DB28B7-86CE-46EF-B9DD-FBFA61731AB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03 · DATA LOGIC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B13569-B9D4-442A-9E94-CE1E1C95F822}"/>
              </a:ext>
            </a:extLst>
          </p:cNvPr>
          <p:cNvSpPr>
            <a:spLocks noGrp="1"/>
          </p:cNvSpPr>
          <p:nvPr/>
        </p:nvSpPr>
        <p:spPr>
          <a:xfrm>
            <a:off x="685800" y="755727"/>
            <a:ext cx="11229473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 점수는 예측값이 아니라, 설명 가능한 신호의 조합입니다.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25AFF56-90A4-45E8-8BD8-C8F8D0538667}"/>
              </a:ext>
            </a:extLst>
          </p:cNvPr>
          <p:cNvSpPr>
            <a:spLocks noGrp="1"/>
          </p:cNvSpPr>
          <p:nvPr/>
        </p:nvSpPr>
        <p:spPr>
          <a:xfrm>
            <a:off x="8025292" y="1526507"/>
            <a:ext cx="3238500" cy="1577139"/>
          </a:xfrm>
          <a:prstGeom prst="roundRect">
            <a:avLst>
              <a:gd name="adj" fmla="val 6400"/>
            </a:avLst>
          </a:prstGeom>
          <a:solidFill>
            <a:srgbClr val="1C4B36"/>
          </a:solidFill>
          <a:ln w="0">
            <a:solidFill>
              <a:srgbClr val="1C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889448-533D-4D23-9B55-EFA768B77A08}"/>
              </a:ext>
            </a:extLst>
          </p:cNvPr>
          <p:cNvSpPr>
            <a:spLocks noGrp="1"/>
          </p:cNvSpPr>
          <p:nvPr/>
        </p:nvSpPr>
        <p:spPr>
          <a:xfrm>
            <a:off x="8287230" y="1817771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변화 점수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CA7C70-E054-493B-8576-865BC77A2E8D}"/>
              </a:ext>
            </a:extLst>
          </p:cNvPr>
          <p:cNvSpPr>
            <a:spLocks noGrp="1"/>
          </p:cNvSpPr>
          <p:nvPr/>
        </p:nvSpPr>
        <p:spPr>
          <a:xfrm>
            <a:off x="8287230" y="2436896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신규 설치 · 인구/세대</a:t>
            </a:r>
          </a:p>
          <a:p>
            <a:pPr>
              <a:buNone/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입주 · 점포 · 문화공간 · 생활인구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D9D9F3-5133-475C-8E70-02687A025B7E}"/>
              </a:ext>
            </a:extLst>
          </p:cNvPr>
          <p:cNvSpPr>
            <a:spLocks noGrp="1"/>
          </p:cNvSpPr>
          <p:nvPr/>
        </p:nvSpPr>
        <p:spPr>
          <a:xfrm>
            <a:off x="9487380" y="1764632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DCECC9"/>
                </a:solidFill>
              </a:defRPr>
            </a:pPr>
            <a:r>
              <a:rPr sz="1875" b="1">
                <a:solidFill>
                  <a:srgbClr val="DCECC9"/>
                </a:solidFill>
              </a:rPr>
              <a:t>50%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585CB2-6EA3-4C02-B51E-6F84A53F48E3}"/>
              </a:ext>
            </a:extLst>
          </p:cNvPr>
          <p:cNvSpPr>
            <a:spLocks noGrp="1"/>
          </p:cNvSpPr>
          <p:nvPr/>
        </p:nvSpPr>
        <p:spPr>
          <a:xfrm>
            <a:off x="8025292" y="3225954"/>
            <a:ext cx="3238500" cy="1517483"/>
          </a:xfrm>
          <a:prstGeom prst="roundRect">
            <a:avLst>
              <a:gd name="adj" fmla="val 6400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6D89B2-14DD-4FF1-83BC-3509F3194081}"/>
              </a:ext>
            </a:extLst>
          </p:cNvPr>
          <p:cNvSpPr>
            <a:spLocks noGrp="1"/>
          </p:cNvSpPr>
          <p:nvPr/>
        </p:nvSpPr>
        <p:spPr>
          <a:xfrm>
            <a:off x="8287230" y="3365571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발견 점수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07F8B6-62BD-423A-B778-B5CBE1BAEAB7}"/>
              </a:ext>
            </a:extLst>
          </p:cNvPr>
          <p:cNvSpPr>
            <a:spLocks noGrp="1"/>
          </p:cNvSpPr>
          <p:nvPr/>
        </p:nvSpPr>
        <p:spPr>
          <a:xfrm>
            <a:off x="8287230" y="3984696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업종 다양성 · 문화 다양성</a:t>
            </a:r>
          </a:p>
          <a:p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혼잡도 페널티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F68548-666C-4BFB-84DE-34B85FE46831}"/>
              </a:ext>
            </a:extLst>
          </p:cNvPr>
          <p:cNvSpPr>
            <a:spLocks noGrp="1"/>
          </p:cNvSpPr>
          <p:nvPr/>
        </p:nvSpPr>
        <p:spPr>
          <a:xfrm>
            <a:off x="9325455" y="3331482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30%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65C778C-073C-4A7D-BBDC-F2660C96A1CE}"/>
              </a:ext>
            </a:extLst>
          </p:cNvPr>
          <p:cNvSpPr>
            <a:spLocks noGrp="1"/>
          </p:cNvSpPr>
          <p:nvPr/>
        </p:nvSpPr>
        <p:spPr>
          <a:xfrm>
            <a:off x="8025292" y="4867275"/>
            <a:ext cx="3238500" cy="1571625"/>
          </a:xfrm>
          <a:prstGeom prst="roundRect">
            <a:avLst>
              <a:gd name="adj" fmla="val 6400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ADC07C-11ED-436A-AF36-D563E513E667}"/>
              </a:ext>
            </a:extLst>
          </p:cNvPr>
          <p:cNvSpPr>
            <a:spLocks noGrp="1"/>
          </p:cNvSpPr>
          <p:nvPr/>
        </p:nvSpPr>
        <p:spPr>
          <a:xfrm>
            <a:off x="8253892" y="51530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방문 적합 점수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F54774-D939-4E42-B84E-6A095B3753AB}"/>
              </a:ext>
            </a:extLst>
          </p:cNvPr>
          <p:cNvSpPr>
            <a:spLocks noGrp="1"/>
          </p:cNvSpPr>
          <p:nvPr/>
        </p:nvSpPr>
        <p:spPr>
          <a:xfrm>
            <a:off x="8253892" y="577215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현재 혼잡도 · 생활인구</a:t>
            </a:r>
          </a:p>
          <a:p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카페·식사·문화 연결성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6780A8-CFA4-4FF0-9B0E-5C9D03B571B3}"/>
              </a:ext>
            </a:extLst>
          </p:cNvPr>
          <p:cNvSpPr>
            <a:spLocks noGrp="1"/>
          </p:cNvSpPr>
          <p:nvPr/>
        </p:nvSpPr>
        <p:spPr>
          <a:xfrm>
            <a:off x="10139842" y="51244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20%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4DB408-0277-4BE4-AC3B-8914FCA01370}"/>
              </a:ext>
            </a:extLst>
          </p:cNvPr>
          <p:cNvSpPr>
            <a:spLocks noGrp="1"/>
          </p:cNvSpPr>
          <p:nvPr/>
        </p:nvSpPr>
        <p:spPr>
          <a:xfrm>
            <a:off x="752955" y="5992228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18231D"/>
                </a:solidFill>
              </a:defRPr>
            </a:pPr>
            <a:r>
              <a:rPr sz="1500" b="0">
                <a:solidFill>
                  <a:srgbClr val="18231D"/>
                </a:solidFill>
              </a:rPr>
              <a:t>모든 입력값은 0~100으로 정규화하며, 각 지역의 기여 요인을 함께 보여줍니다.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1CB394-100F-4EB5-9086-BC38396BEF9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4</a:t>
            </a:r>
          </a:p>
        </p:txBody>
      </p:sp>
      <p:pic>
        <p:nvPicPr>
          <p:cNvPr id="35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24250"/>
            <a:ext cx="6868484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1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2BFA20-03FE-4F6C-95AA-15F6C3E59EC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04 · TRANSPARENT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402803-C08D-44C6-811C-36EA71085E0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SPOT의 핵심은 “왜 추천했는가”를 보여주는 것입니다.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BA1FE6-AE6C-4F8B-82BE-C9D5AE4E38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762500" cy="3524250"/>
          </a:xfrm>
          <a:prstGeom prst="roundRect">
            <a:avLst>
              <a:gd name="adj" fmla="val 4324"/>
            </a:avLst>
          </a:prstGeom>
          <a:solidFill>
            <a:srgbClr val="1C4B36"/>
          </a:solidFill>
          <a:ln w="0">
            <a:solidFill>
              <a:srgbClr val="1C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CBF94-E6DC-4B3C-92DB-C4B6B79D9B03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연남동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8AF8A0-C23F-4745-8518-978ECA3A294E}"/>
              </a:ext>
            </a:extLst>
          </p:cNvPr>
          <p:cNvSpPr>
            <a:spLocks noGrp="1"/>
          </p:cNvSpPr>
          <p:nvPr/>
        </p:nvSpPr>
        <p:spPr>
          <a:xfrm>
            <a:off x="1028700" y="28575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DCECC9"/>
                </a:solidFill>
              </a:defRPr>
            </a:pPr>
            <a:r>
              <a:rPr sz="1050" b="1">
                <a:solidFill>
                  <a:srgbClr val="DCECC9"/>
                </a:solidFill>
              </a:rPr>
              <a:t>NEXT SPOT SCORE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BE3406-F651-48DB-9A15-4F7E1D1300FF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142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289AB4-BCDD-4B24-BCF4-F8F311B9C694}"/>
              </a:ext>
            </a:extLst>
          </p:cNvPr>
          <p:cNvSpPr>
            <a:spLocks noGrp="1"/>
          </p:cNvSpPr>
          <p:nvPr/>
        </p:nvSpPr>
        <p:spPr>
          <a:xfrm>
            <a:off x="1028700" y="42862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D8E9D1"/>
                </a:solidFill>
              </a:defRPr>
            </a:pPr>
            <a:r>
              <a:rPr sz="1275" b="0">
                <a:solidFill>
                  <a:srgbClr val="D8E9D1"/>
                </a:solidFill>
              </a:rPr>
              <a:t>현재 혼잡도 62/100 · 보통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48F9AC-C64B-4D3D-9432-896AEB330F70}"/>
              </a:ext>
            </a:extLst>
          </p:cNvPr>
          <p:cNvSpPr>
            <a:spLocks noGrp="1"/>
          </p:cNvSpPr>
          <p:nvPr/>
        </p:nvSpPr>
        <p:spPr>
          <a:xfrm>
            <a:off x="6000750" y="1809750"/>
            <a:ext cx="4857750" cy="352425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5775A1-F98E-4727-9E2B-49277009CB45}"/>
              </a:ext>
            </a:extLst>
          </p:cNvPr>
          <p:cNvSpPr>
            <a:spLocks noGrp="1"/>
          </p:cNvSpPr>
          <p:nvPr/>
        </p:nvSpPr>
        <p:spPr>
          <a:xfrm>
            <a:off x="6305550" y="21431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왜 뜨는가?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BCF98F-48EE-4BD4-BBE9-42B0CAA775A8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342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신규 점포 32%</a:t>
            </a:r>
          </a:p>
          <a:p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생활인구 18%</a:t>
            </a:r>
          </a:p>
          <a:p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문화공간 3개</a:t>
            </a:r>
          </a:p>
          <a:p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아직 과밀하지 않음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C0B9EF-C021-439F-8EA7-5DD819F5191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5</a:t>
            </a:r>
          </a:p>
        </p:txBody>
      </p:sp>
    </p:spTree>
    <p:extLst>
      <p:ext uri="{BB962C8B-B14F-4D97-AF65-F5344CB8AC3E}">
        <p14:creationId xmlns:p14="http://schemas.microsoft.com/office/powerpoint/2010/main" val="26675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CAC00E-C230-47AF-9244-28CC9E91988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05 · BUSINESS MODEL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F29295-6F9E-43DE-8CB5-5E4074372AD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처음부터 구독을 팔기보다,</a:t>
            </a:r>
          </a:p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의사결정에 필요한 리포트부터 검증합니다.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B88DED9-A948-4BF4-B5AB-82EEA495A41D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10096500" cy="819150"/>
          </a:xfrm>
          <a:prstGeom prst="roundRect">
            <a:avLst>
              <a:gd name="adj" fmla="val 18605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5ACFC6-49FE-4F4E-9E59-BC44017B6534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지금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D1C94E-4FB4-4E4C-B6D8-A60D33F09035}"/>
              </a:ext>
            </a:extLst>
          </p:cNvPr>
          <p:cNvSpPr>
            <a:spLocks noGrp="1"/>
          </p:cNvSpPr>
          <p:nvPr/>
        </p:nvSpPr>
        <p:spPr>
          <a:xfrm>
            <a:off x="3143250" y="22002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개인 사용자 무료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76FC1E-8623-4A4D-B554-76F9946DB993}"/>
              </a:ext>
            </a:extLst>
          </p:cNvPr>
          <p:cNvSpPr>
            <a:spLocks noGrp="1"/>
          </p:cNvSpPr>
          <p:nvPr/>
        </p:nvSpPr>
        <p:spPr>
          <a:xfrm>
            <a:off x="6477000" y="22288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키워드 탐색·지도·상세 근거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BC83F2-4AFC-4285-8D7A-9C8334BDCACE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1009650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B85A75-7D3C-4A25-B8AD-CBFF0FD611C5}"/>
              </a:ext>
            </a:extLst>
          </p:cNvPr>
          <p:cNvSpPr>
            <a:spLocks noGrp="1"/>
          </p:cNvSpPr>
          <p:nvPr/>
        </p:nvSpPr>
        <p:spPr>
          <a:xfrm>
            <a:off x="952500" y="3324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초기 매출 실험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848DB6-5100-4F37-92B5-2242D98BED47}"/>
              </a:ext>
            </a:extLst>
          </p:cNvPr>
          <p:cNvSpPr>
            <a:spLocks noGrp="1"/>
          </p:cNvSpPr>
          <p:nvPr/>
        </p:nvSpPr>
        <p:spPr>
          <a:xfrm>
            <a:off x="3143250" y="3295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1회성 출점 후보지 리포트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BAB0A5-C63A-452D-9DEE-8723877D2926}"/>
              </a:ext>
            </a:extLst>
          </p:cNvPr>
          <p:cNvSpPr>
            <a:spLocks noGrp="1"/>
          </p:cNvSpPr>
          <p:nvPr/>
        </p:nvSpPr>
        <p:spPr>
          <a:xfrm>
            <a:off x="6477000" y="3324225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브랜드에 맞는 다음 후보 5곳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7C6323-9A6D-4EFA-97B2-A33890982167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09650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891152-B9A4-48CC-BFEC-46BF8AFB1A13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장기 확장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9E410F-4E46-4DF3-AA9D-25D9992AEFFE}"/>
              </a:ext>
            </a:extLst>
          </p:cNvPr>
          <p:cNvSpPr>
            <a:spLocks noGrp="1"/>
          </p:cNvSpPr>
          <p:nvPr/>
        </p:nvSpPr>
        <p:spPr>
          <a:xfrm>
            <a:off x="3143250" y="43910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프랜차이즈·공공기관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519C43-880B-4479-BF90-712EAECA81B8}"/>
              </a:ext>
            </a:extLst>
          </p:cNvPr>
          <p:cNvSpPr>
            <a:spLocks noGrp="1"/>
          </p:cNvSpPr>
          <p:nvPr/>
        </p:nvSpPr>
        <p:spPr>
          <a:xfrm>
            <a:off x="6477000" y="4419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입지 분석·지역 변화 모니터링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1D9339-AA20-4F11-95D3-0E0A6DC8471D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E99228"/>
                </a:solidFill>
              </a:defRPr>
            </a:pPr>
            <a:r>
              <a:rPr sz="1350" b="1">
                <a:solidFill>
                  <a:srgbClr val="E99228"/>
                </a:solidFill>
              </a:rPr>
              <a:t>가격과 구매 가능성은 모두 검증이 필요한 가설입니다.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3CD37E-CFD4-4484-AB69-BED781800E9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6</a:t>
            </a:r>
          </a:p>
        </p:txBody>
      </p:sp>
    </p:spTree>
    <p:extLst>
      <p:ext uri="{BB962C8B-B14F-4D97-AF65-F5344CB8AC3E}">
        <p14:creationId xmlns:p14="http://schemas.microsoft.com/office/powerpoint/2010/main" val="2110815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B6C9AF-E8F8-49C9-8C49-36AB40D0B3C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06 · MVP &amp; NEXT STEP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BBC56A-2062-4661-9E3A-1FEE7961077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5시간 안에 검증할 것은 “예측의 정확도”보다 </a:t>
            </a:r>
          </a:p>
          <a:p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“발견 경험의 가치”입니다.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C08AC36-F682-4A56-B169-265A804652B7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95500" cy="1238250"/>
          </a:xfrm>
          <a:prstGeom prst="roundRect">
            <a:avLst>
              <a:gd name="adj" fmla="val 12308"/>
            </a:avLst>
          </a:prstGeom>
          <a:solidFill>
            <a:srgbClr val="1C4B36"/>
          </a:solidFill>
          <a:ln w="0">
            <a:solidFill>
              <a:srgbClr val="1C4B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808467-470E-494F-A0A7-93D9431EBF45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1. 키워드 입력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EF971C-FFA5-4B17-80AD-C477F1A89761}"/>
              </a:ext>
            </a:extLst>
          </p:cNvPr>
          <p:cNvSpPr>
            <a:spLocks noGrp="1"/>
          </p:cNvSpPr>
          <p:nvPr/>
        </p:nvSpPr>
        <p:spPr>
          <a:xfrm>
            <a:off x="876300" y="2952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D8E9D1"/>
                </a:solidFill>
              </a:defRPr>
            </a:pPr>
            <a:r>
              <a:rPr sz="1125" b="0">
                <a:solidFill>
                  <a:srgbClr val="D8E9D1"/>
                </a:solidFill>
              </a:rPr>
              <a:t>검색 완료율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DF29C2-D805-4EAD-BFC7-044509B0ED30}"/>
              </a:ext>
            </a:extLst>
          </p:cNvPr>
          <p:cNvSpPr>
            <a:spLocks noGrp="1"/>
          </p:cNvSpPr>
          <p:nvPr/>
        </p:nvSpPr>
        <p:spPr>
          <a:xfrm>
            <a:off x="3305175" y="2219325"/>
            <a:ext cx="2095500" cy="1238250"/>
          </a:xfrm>
          <a:prstGeom prst="roundRect">
            <a:avLst>
              <a:gd name="adj" fmla="val 12308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B297C0-A1BC-4926-BEB8-086AAE5224AA}"/>
              </a:ext>
            </a:extLst>
          </p:cNvPr>
          <p:cNvSpPr>
            <a:spLocks noGrp="1"/>
          </p:cNvSpPr>
          <p:nvPr/>
        </p:nvSpPr>
        <p:spPr>
          <a:xfrm>
            <a:off x="3495675" y="247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2. 지도·추천 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AA47CA-A899-49FB-9312-9F37BF57DBBE}"/>
              </a:ext>
            </a:extLst>
          </p:cNvPr>
          <p:cNvSpPr>
            <a:spLocks noGrp="1"/>
          </p:cNvSpPr>
          <p:nvPr/>
        </p:nvSpPr>
        <p:spPr>
          <a:xfrm>
            <a:off x="3495675" y="2952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카드 클릭률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9C43BD-BAA2-467C-98B6-83A83F85B8A9}"/>
              </a:ext>
            </a:extLst>
          </p:cNvPr>
          <p:cNvSpPr>
            <a:spLocks noGrp="1"/>
          </p:cNvSpPr>
          <p:nvPr/>
        </p:nvSpPr>
        <p:spPr>
          <a:xfrm>
            <a:off x="5924550" y="2219325"/>
            <a:ext cx="2095500" cy="1238250"/>
          </a:xfrm>
          <a:prstGeom prst="roundRect">
            <a:avLst>
              <a:gd name="adj" fmla="val 12308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3DC5D-32E9-4CFB-93B5-B99149653EB9}"/>
              </a:ext>
            </a:extLst>
          </p:cNvPr>
          <p:cNvSpPr>
            <a:spLocks noGrp="1"/>
          </p:cNvSpPr>
          <p:nvPr/>
        </p:nvSpPr>
        <p:spPr>
          <a:xfrm>
            <a:off x="6115050" y="247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3. 상세 근거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4DE3DE-DFBB-45D1-BEE5-160F1B1AA7E2}"/>
              </a:ext>
            </a:extLst>
          </p:cNvPr>
          <p:cNvSpPr>
            <a:spLocks noGrp="1"/>
          </p:cNvSpPr>
          <p:nvPr/>
        </p:nvSpPr>
        <p:spPr>
          <a:xfrm>
            <a:off x="6115050" y="2952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상세 진입률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4E57BAC-003A-44D2-80D7-8672CF2B616A}"/>
              </a:ext>
            </a:extLst>
          </p:cNvPr>
          <p:cNvSpPr>
            <a:spLocks noGrp="1"/>
          </p:cNvSpPr>
          <p:nvPr/>
        </p:nvSpPr>
        <p:spPr>
          <a:xfrm>
            <a:off x="8582025" y="2190750"/>
            <a:ext cx="2095500" cy="1238250"/>
          </a:xfrm>
          <a:prstGeom prst="roundRect">
            <a:avLst>
              <a:gd name="adj" fmla="val 12308"/>
            </a:avLst>
          </a:prstGeom>
          <a:solidFill>
            <a:srgbClr val="EAF1E5"/>
          </a:solidFill>
          <a:ln w="0">
            <a:solidFill>
              <a:srgbClr val="EAF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5B1574-A200-401F-8EC0-59BD53318BC7}"/>
              </a:ext>
            </a:extLst>
          </p:cNvPr>
          <p:cNvSpPr>
            <a:spLocks noGrp="1"/>
          </p:cNvSpPr>
          <p:nvPr/>
        </p:nvSpPr>
        <p:spPr>
          <a:xfrm>
            <a:off x="8734425" y="247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4. 저장·공유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44105-6220-4DE1-B226-7C1577B5BC5A}"/>
              </a:ext>
            </a:extLst>
          </p:cNvPr>
          <p:cNvSpPr>
            <a:spLocks noGrp="1"/>
          </p:cNvSpPr>
          <p:nvPr/>
        </p:nvSpPr>
        <p:spPr>
          <a:xfrm>
            <a:off x="8734425" y="2952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저장·공유율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9BF65C-58D1-49F5-A98C-324F671B676E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1506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NEXT SPOT은 먼저 개인의 다음 동네 발견을 무료로 해결하고, 이후 출점 의사결정 데이터로 확장합니다.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E927AD-EEEA-4AD8-81BF-34412635C91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7</a:t>
            </a:r>
          </a:p>
        </p:txBody>
      </p:sp>
    </p:spTree>
    <p:extLst>
      <p:ext uri="{BB962C8B-B14F-4D97-AF65-F5344CB8AC3E}">
        <p14:creationId xmlns:p14="http://schemas.microsoft.com/office/powerpoint/2010/main" val="1752932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0B6755-95FA-43BC-AC1A-DF20A8DD8719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513A"/>
                </a:solidFill>
              </a:defRPr>
            </a:pPr>
            <a:r>
              <a:rPr sz="900" b="1">
                <a:solidFill>
                  <a:srgbClr val="1D513A"/>
                </a:solidFill>
              </a:rPr>
              <a:t>07 · TRUSTED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7B20D4-9B02-4423-86AC-A6C50E93BC8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73629"/>
                </a:solidFill>
              </a:defRPr>
            </a:pPr>
            <a:r>
              <a:rPr sz="2325" b="1">
                <a:solidFill>
                  <a:srgbClr val="173629"/>
                </a:solidFill>
              </a:rPr>
              <a:t>왜 서울시 공공통계를 함께 봤을까요?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59143F-C733-4355-971E-346882870E8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NEXT SPOT · MAWD Challenge MVP · 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3D91BD-AB10-40A6-B579-CE238367C68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64736A"/>
                </a:solidFill>
              </a:defRPr>
            </a:pPr>
            <a:r>
              <a:rPr sz="1425" b="0">
                <a:solidFill>
                  <a:srgbClr val="64736A"/>
                </a:solidFill>
              </a:rPr>
              <a:t>인터넷 설치만으로 지역 변화를 단정하지 않기 위해, 서로 다른 공식 신호를 교차 확인합니다.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D08BB68-75A1-48FF-AA4B-5A56DA03C50A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238500" cy="2047875"/>
          </a:xfrm>
          <a:prstGeom prst="roundRect">
            <a:avLst>
              <a:gd name="adj" fmla="val 5581"/>
            </a:avLst>
          </a:prstGeom>
          <a:solidFill>
            <a:srgbClr val="E7F0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4D46E5-3658-4412-86FF-01117F21F62A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D513A"/>
                </a:solidFill>
              </a:defRPr>
            </a:pPr>
            <a:r>
              <a:rPr sz="1200" b="1">
                <a:solidFill>
                  <a:srgbClr val="1D513A"/>
                </a:solidFill>
              </a:rPr>
              <a:t>공식성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A7AAEA-FEA2-4CC8-98DC-92C37C420F95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73629"/>
                </a:solidFill>
              </a:defRPr>
            </a:pPr>
            <a:r>
              <a:rPr sz="1725" b="1">
                <a:solidFill>
                  <a:srgbClr val="173629"/>
                </a:solidFill>
              </a:rPr>
              <a:t>서울시·국토교통부 기반 공개 통계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C657AC-CF5D-4A7F-BD61-30B271342F51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공공기관이 동일 기준으로 수집·공개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FFEEF4-98B0-4204-A7BE-DA7327BE58CC}"/>
              </a:ext>
            </a:extLst>
          </p:cNvPr>
          <p:cNvSpPr>
            <a:spLocks noGrp="1"/>
          </p:cNvSpPr>
          <p:nvPr/>
        </p:nvSpPr>
        <p:spPr>
          <a:xfrm>
            <a:off x="4286250" y="2333625"/>
            <a:ext cx="3238500" cy="2047875"/>
          </a:xfrm>
          <a:prstGeom prst="roundRect">
            <a:avLst>
              <a:gd name="adj" fmla="val 5581"/>
            </a:avLst>
          </a:prstGeom>
          <a:solidFill>
            <a:srgbClr val="1D51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DFBE54-106C-48E4-95E7-10261D203AA2}"/>
              </a:ext>
            </a:extLst>
          </p:cNvPr>
          <p:cNvSpPr>
            <a:spLocks noGrp="1"/>
          </p:cNvSpPr>
          <p:nvPr/>
        </p:nvSpPr>
        <p:spPr>
          <a:xfrm>
            <a:off x="4514850" y="25717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CBE6BE"/>
                </a:solidFill>
              </a:defRPr>
            </a:pPr>
            <a:r>
              <a:rPr sz="1200" b="1">
                <a:solidFill>
                  <a:srgbClr val="CBE6BE"/>
                </a:solidFill>
              </a:rPr>
              <a:t>교차검증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0492F0-03E5-4F2A-9465-C3AA23B83685}"/>
              </a:ext>
            </a:extLst>
          </p:cNvPr>
          <p:cNvSpPr>
            <a:spLocks noGrp="1"/>
          </p:cNvSpPr>
          <p:nvPr/>
        </p:nvSpPr>
        <p:spPr>
          <a:xfrm>
            <a:off x="4514850" y="3000375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주거·거래·상권 신호를 함께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A13055-1BF7-415A-B2D4-3B95FF78180B}"/>
              </a:ext>
            </a:extLst>
          </p:cNvPr>
          <p:cNvSpPr>
            <a:spLocks noGrp="1"/>
          </p:cNvSpPr>
          <p:nvPr/>
        </p:nvSpPr>
        <p:spPr>
          <a:xfrm>
            <a:off x="4514850" y="3733800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E2F0DB"/>
                </a:solidFill>
              </a:defRPr>
            </a:pPr>
            <a:r>
              <a:rPr sz="1125" b="0">
                <a:solidFill>
                  <a:srgbClr val="E2F0DB"/>
                </a:solidFill>
              </a:rPr>
              <a:t>한 가지 지표의 오해 가능성을 낮춤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F402BF5-E605-4B51-B6C0-847104FE1526}"/>
              </a:ext>
            </a:extLst>
          </p:cNvPr>
          <p:cNvSpPr>
            <a:spLocks noGrp="1"/>
          </p:cNvSpPr>
          <p:nvPr/>
        </p:nvSpPr>
        <p:spPr>
          <a:xfrm>
            <a:off x="7886700" y="2333625"/>
            <a:ext cx="3238500" cy="2047875"/>
          </a:xfrm>
          <a:prstGeom prst="roundRect">
            <a:avLst>
              <a:gd name="adj" fmla="val 5581"/>
            </a:avLst>
          </a:prstGeom>
          <a:solidFill>
            <a:srgbClr val="E7F0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C63156-62CA-4CDA-979D-95660A15F62D}"/>
              </a:ext>
            </a:extLst>
          </p:cNvPr>
          <p:cNvSpPr>
            <a:spLocks noGrp="1"/>
          </p:cNvSpPr>
          <p:nvPr/>
        </p:nvSpPr>
        <p:spPr>
          <a:xfrm>
            <a:off x="8115300" y="25717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D513A"/>
                </a:solidFill>
              </a:defRPr>
            </a:pPr>
            <a:r>
              <a:rPr sz="1200" b="1">
                <a:solidFill>
                  <a:srgbClr val="1D513A"/>
                </a:solidFill>
              </a:rPr>
              <a:t>투명성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93A037-A0FC-497F-8E6C-1BB0492F8513}"/>
              </a:ext>
            </a:extLst>
          </p:cNvPr>
          <p:cNvSpPr>
            <a:spLocks noGrp="1"/>
          </p:cNvSpPr>
          <p:nvPr/>
        </p:nvSpPr>
        <p:spPr>
          <a:xfrm>
            <a:off x="8115300" y="3000375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73629"/>
                </a:solidFill>
              </a:defRPr>
            </a:pPr>
            <a:r>
              <a:rPr sz="1725" b="1">
                <a:solidFill>
                  <a:srgbClr val="173629"/>
                </a:solidFill>
              </a:rPr>
              <a:t>기준일·공간단위·한계를 함께 표시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1101D4-0B29-48A2-B2B3-2F2A8368D24C}"/>
              </a:ext>
            </a:extLst>
          </p:cNvPr>
          <p:cNvSpPr>
            <a:spLocks noGrp="1"/>
          </p:cNvSpPr>
          <p:nvPr/>
        </p:nvSpPr>
        <p:spPr>
          <a:xfrm>
            <a:off x="8115300" y="3733800"/>
            <a:ext cx="271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예측이 아니라 관찰 근거로 설명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363DD9-5641-4DF2-85B6-EE480BC9E28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C67827"/>
                </a:solidFill>
              </a:defRPr>
            </a:pPr>
            <a:r>
              <a:rPr sz="1275" b="1">
                <a:solidFill>
                  <a:srgbClr val="C67827"/>
                </a:solidFill>
              </a:rPr>
              <a:t>핵심 원칙  ·  “공공통계 = 정답”이 아니라, 데이터 해석의 신뢰 기준을 높이는 보조 근거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F6770E-5B8B-4C2C-887A-7DBFD3E8D3F9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[Sources] 서울부동산정보광장 민간 미분양·상업/업무용 실거래 조회 페이지</a:t>
            </a:r>
          </a:p>
        </p:txBody>
      </p:sp>
    </p:spTree>
    <p:extLst>
      <p:ext uri="{BB962C8B-B14F-4D97-AF65-F5344CB8AC3E}">
        <p14:creationId xmlns:p14="http://schemas.microsoft.com/office/powerpoint/2010/main" val="7573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0B76AF-8A26-4CD1-AC16-61D05BCACDD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513A"/>
                </a:solidFill>
              </a:defRPr>
            </a:pPr>
            <a:r>
              <a:rPr sz="900" b="1">
                <a:solidFill>
                  <a:srgbClr val="1D513A"/>
                </a:solidFill>
              </a:rPr>
              <a:t>08 · PUBLIC DATA LAYER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D540E5-6E33-49E8-859F-59E15FC2A96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73629"/>
                </a:solidFill>
              </a:defRPr>
            </a:pPr>
            <a:r>
              <a:rPr sz="2325" b="1">
                <a:solidFill>
                  <a:srgbClr val="173629"/>
                </a:solidFill>
              </a:rPr>
              <a:t>NEXT SPOT은 서로 다른 지역 신호를 한 화면에서 연결합니다.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2B63B5-B4ED-4004-8C13-B83B0C0AAF3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NEXT SPOT · MAWD Challenge MVP · 09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071C21D-9184-463D-9CD7-F2B1EC75AB9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CECBFF-40D3-4C30-9120-056123D43286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D513A"/>
                </a:solidFill>
              </a:defRPr>
            </a:pPr>
            <a:r>
              <a:rPr sz="1125" b="1">
                <a:solidFill>
                  <a:srgbClr val="1D513A"/>
                </a:solidFill>
              </a:rPr>
              <a:t>주거 안정성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3CC48A-DBD7-4FC9-867A-2A3AB53A38DA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2714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629"/>
                </a:solidFill>
              </a:defRPr>
            </a:pPr>
            <a:r>
              <a:rPr sz="1800" b="1">
                <a:solidFill>
                  <a:srgbClr val="173629"/>
                </a:solidFill>
              </a:rPr>
              <a:t>민간 미분양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4776FD-F50B-41CC-94B1-721339371B29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67827"/>
                </a:solidFill>
              </a:defRPr>
            </a:pPr>
            <a:r>
              <a:rPr sz="1050" b="1">
                <a:solidFill>
                  <a:srgbClr val="C67827"/>
                </a:solidFill>
              </a:rPr>
              <a:t>자치구 · 2026.06.30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647DA6-FE39-44F0-B776-28E2730FA1FB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지역의 주거 수요를 해석하는 보조 신호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4E44F5A-E0E4-4820-AF82-476E3669BBC2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518F78-9F2D-4BDE-8103-EAE32793D57C}"/>
              </a:ext>
            </a:extLst>
          </p:cNvPr>
          <p:cNvSpPr>
            <a:spLocks noGrp="1"/>
          </p:cNvSpPr>
          <p:nvPr/>
        </p:nvSpPr>
        <p:spPr>
          <a:xfrm>
            <a:off x="4514850" y="2076450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D513A"/>
                </a:solidFill>
              </a:defRPr>
            </a:pPr>
            <a:r>
              <a:rPr sz="1125" b="1">
                <a:solidFill>
                  <a:srgbClr val="1D513A"/>
                </a:solidFill>
              </a:rPr>
              <a:t>상권 활동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2D4E15-E940-43D3-9B63-55B9823938E7}"/>
              </a:ext>
            </a:extLst>
          </p:cNvPr>
          <p:cNvSpPr>
            <a:spLocks noGrp="1"/>
          </p:cNvSpPr>
          <p:nvPr/>
        </p:nvSpPr>
        <p:spPr>
          <a:xfrm>
            <a:off x="4514850" y="2514600"/>
            <a:ext cx="2714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629"/>
                </a:solidFill>
              </a:defRPr>
            </a:pPr>
            <a:r>
              <a:rPr sz="1800" b="1">
                <a:solidFill>
                  <a:srgbClr val="173629"/>
                </a:solidFill>
              </a:rPr>
              <a:t>상업·업무용 거래 활동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0073AF-2BDB-4A87-A149-57CBCEB8A9BD}"/>
              </a:ext>
            </a:extLst>
          </p:cNvPr>
          <p:cNvSpPr>
            <a:spLocks noGrp="1"/>
          </p:cNvSpPr>
          <p:nvPr/>
        </p:nvSpPr>
        <p:spPr>
          <a:xfrm>
            <a:off x="4514850" y="323850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67827"/>
                </a:solidFill>
              </a:defRPr>
            </a:pPr>
            <a:r>
              <a:rPr sz="1050" b="1">
                <a:solidFill>
                  <a:srgbClr val="C67827"/>
                </a:solidFill>
              </a:rPr>
              <a:t>자치구 · 2026년 3분기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A7CA4F-CB83-479B-8099-ECE983A002B8}"/>
              </a:ext>
            </a:extLst>
          </p:cNvPr>
          <p:cNvSpPr>
            <a:spLocks noGrp="1"/>
          </p:cNvSpPr>
          <p:nvPr/>
        </p:nvSpPr>
        <p:spPr>
          <a:xfrm>
            <a:off x="4514850" y="3714750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거래금액이 아닌 조회 행 수 기반 참고 지표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9C6AF1-C56A-46FF-A2E1-A4E19E409243}"/>
              </a:ext>
            </a:extLst>
          </p:cNvPr>
          <p:cNvSpPr>
            <a:spLocks noGrp="1"/>
          </p:cNvSpPr>
          <p:nvPr/>
        </p:nvSpPr>
        <p:spPr>
          <a:xfrm>
            <a:off x="7886700" y="1809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7EA201-B210-4305-84FD-B16EC8A1E376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D513A"/>
                </a:solidFill>
              </a:defRPr>
            </a:pPr>
            <a:r>
              <a:rPr sz="1125" b="1">
                <a:solidFill>
                  <a:srgbClr val="1D513A"/>
                </a:solidFill>
              </a:rPr>
              <a:t>생활 변화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921F3B-C844-4FD7-80DC-CDD359EF3804}"/>
              </a:ext>
            </a:extLst>
          </p:cNvPr>
          <p:cNvSpPr>
            <a:spLocks noGrp="1"/>
          </p:cNvSpPr>
          <p:nvPr/>
        </p:nvSpPr>
        <p:spPr>
          <a:xfrm>
            <a:off x="8115300" y="2514600"/>
            <a:ext cx="2714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629"/>
                </a:solidFill>
              </a:defRPr>
            </a:pPr>
            <a:r>
              <a:rPr sz="1800" b="1">
                <a:solidFill>
                  <a:srgbClr val="173629"/>
                </a:solidFill>
              </a:rPr>
              <a:t>인터넷·인구·세대·입주·생활인구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99C2A7-D0CF-4DF8-A719-F8816DAF1DFE}"/>
              </a:ext>
            </a:extLst>
          </p:cNvPr>
          <p:cNvSpPr>
            <a:spLocks noGrp="1"/>
          </p:cNvSpPr>
          <p:nvPr/>
        </p:nvSpPr>
        <p:spPr>
          <a:xfrm>
            <a:off x="8115300" y="323850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67827"/>
                </a:solidFill>
              </a:defRPr>
            </a:pPr>
            <a:r>
              <a:rPr sz="1050" b="1">
                <a:solidFill>
                  <a:srgbClr val="C67827"/>
                </a:solidFill>
              </a:rPr>
              <a:t>가상 동네 × 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E8FA23-0ED0-4C27-B00A-A78EAE8D3E26}"/>
              </a:ext>
            </a:extLst>
          </p:cNvPr>
          <p:cNvSpPr>
            <a:spLocks noGrp="1"/>
          </p:cNvSpPr>
          <p:nvPr/>
        </p:nvSpPr>
        <p:spPr>
          <a:xfrm>
            <a:off x="8115300" y="3714750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MVP 점수의 핵심 변화 신호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89D774D-BE70-4AE4-9CBF-AEBD84E9276B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629"/>
                </a:solidFill>
              </a:defRPr>
            </a:pPr>
            <a:r>
              <a:rPr sz="1350" b="1">
                <a:solidFill>
                  <a:srgbClr val="173629"/>
                </a:solidFill>
              </a:rPr>
              <a:t>공간 단위가 자치구로 제한될 때는 동네 단위의 사실처럼 확대 해석하지 않습니다.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429F68-10BA-4487-A017-3E3BC2D43B99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[Sources] 서울부동산정보광장(land.seoul.go.kr) · 데이터 기준일과 단위는 화면에 명시</a:t>
            </a:r>
          </a:p>
        </p:txBody>
      </p:sp>
    </p:spTree>
    <p:extLst>
      <p:ext uri="{BB962C8B-B14F-4D97-AF65-F5344CB8AC3E}">
        <p14:creationId xmlns:p14="http://schemas.microsoft.com/office/powerpoint/2010/main" val="202848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23829F-0939-419E-B7AC-6B5CC8247D26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513A"/>
                </a:solidFill>
              </a:defRPr>
            </a:pPr>
            <a:r>
              <a:rPr sz="900" b="1">
                <a:solidFill>
                  <a:srgbClr val="1D513A"/>
                </a:solidFill>
              </a:rPr>
              <a:t>09 · HONEST PRODUCT DESIGN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A07A4A-D505-4C17-94DE-6B68915E595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76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>
                <a:solidFill>
                  <a:srgbClr val="173629"/>
                </a:solidFill>
              </a:defRPr>
            </a:pPr>
            <a:r>
              <a:rPr sz="2325" b="1">
                <a:solidFill>
                  <a:srgbClr val="173629"/>
                </a:solidFill>
              </a:rPr>
              <a:t>신뢰도는 점수를 높이는 것이 아니라, 근거와 한계를 함께 보여주는 방식으로 만듭니다.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FD52CA-236A-4D87-AC82-543887D76F5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NEXT SPOT · MAWD Challenge MVP · 10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20E7EB4-84CA-48A4-A9DF-87F14CA62C6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E7F0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EEE65B-CFD0-46AE-93A6-87F6865B1E08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513A"/>
                </a:solidFill>
              </a:defRPr>
            </a:pPr>
            <a:r>
              <a:rPr sz="1050" b="1">
                <a:solidFill>
                  <a:srgbClr val="1D513A"/>
                </a:solidFill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FBBD83-E648-491C-8A24-879636772B4D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629"/>
                </a:solidFill>
              </a:defRPr>
            </a:pPr>
            <a:r>
              <a:rPr sz="1650" b="1">
                <a:solidFill>
                  <a:srgbClr val="173629"/>
                </a:solidFill>
              </a:rPr>
              <a:t>신호 수집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C63CD5-5F42-4F26-9F29-7A592FE7C3B2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4736A"/>
                </a:solidFill>
              </a:defRPr>
            </a:pPr>
            <a:r>
              <a:rPr sz="1050" b="0">
                <a:solidFill>
                  <a:srgbClr val="64736A"/>
                </a:solidFill>
              </a:rPr>
              <a:t>아정당·공공데이터를 지역×월로 정리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24C57B2-9679-4B2F-BE6F-3462990E8805}"/>
              </a:ext>
            </a:extLst>
          </p:cNvPr>
          <p:cNvSpPr>
            <a:spLocks noGrp="1"/>
          </p:cNvSpPr>
          <p:nvPr/>
        </p:nvSpPr>
        <p:spPr>
          <a:xfrm>
            <a:off x="3381375" y="2095500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E7F0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9C82EC-C7EB-4EFC-8C37-A18A285D5114}"/>
              </a:ext>
            </a:extLst>
          </p:cNvPr>
          <p:cNvSpPr>
            <a:spLocks noGrp="1"/>
          </p:cNvSpPr>
          <p:nvPr/>
        </p:nvSpPr>
        <p:spPr>
          <a:xfrm>
            <a:off x="3571875" y="23241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513A"/>
                </a:solidFill>
              </a:defRPr>
            </a:pPr>
            <a:r>
              <a:rPr sz="1050" b="1">
                <a:solidFill>
                  <a:srgbClr val="1D513A"/>
                </a:solidFill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68ED44-9096-4FF4-BD3D-5BA365929898}"/>
              </a:ext>
            </a:extLst>
          </p:cNvPr>
          <p:cNvSpPr>
            <a:spLocks noGrp="1"/>
          </p:cNvSpPr>
          <p:nvPr/>
        </p:nvSpPr>
        <p:spPr>
          <a:xfrm>
            <a:off x="3571875" y="2724150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629"/>
                </a:solidFill>
              </a:defRPr>
            </a:pPr>
            <a:r>
              <a:rPr sz="1650" b="1">
                <a:solidFill>
                  <a:srgbClr val="173629"/>
                </a:solidFill>
              </a:rPr>
              <a:t>교차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4ECB65-B773-49A6-B08D-09C93ABD4B6E}"/>
              </a:ext>
            </a:extLst>
          </p:cNvPr>
          <p:cNvSpPr>
            <a:spLocks noGrp="1"/>
          </p:cNvSpPr>
          <p:nvPr/>
        </p:nvSpPr>
        <p:spPr>
          <a:xfrm>
            <a:off x="3571875" y="3238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4736A"/>
                </a:solidFill>
              </a:defRPr>
            </a:pPr>
            <a:r>
              <a:rPr sz="1050" b="0">
                <a:solidFill>
                  <a:srgbClr val="64736A"/>
                </a:solidFill>
              </a:rPr>
              <a:t>주거·거래·상권 변화를 함께 비교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1E1A05-B3F0-4803-BD9E-2EC573BF5340}"/>
              </a:ext>
            </a:extLst>
          </p:cNvPr>
          <p:cNvSpPr>
            <a:spLocks noGrp="1"/>
          </p:cNvSpPr>
          <p:nvPr/>
        </p:nvSpPr>
        <p:spPr>
          <a:xfrm>
            <a:off x="6076950" y="2095500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1D51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949665-E749-46AC-8EE8-7AC807F5795F}"/>
              </a:ext>
            </a:extLst>
          </p:cNvPr>
          <p:cNvSpPr>
            <a:spLocks noGrp="1"/>
          </p:cNvSpPr>
          <p:nvPr/>
        </p:nvSpPr>
        <p:spPr>
          <a:xfrm>
            <a:off x="6267450" y="23241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BE6BE"/>
                </a:solidFill>
              </a:defRPr>
            </a:pPr>
            <a:r>
              <a:rPr sz="1050" b="1">
                <a:solidFill>
                  <a:srgbClr val="CBE6BE"/>
                </a:solidFill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190896-EA00-4029-89FA-EF81B1CC02CA}"/>
              </a:ext>
            </a:extLst>
          </p:cNvPr>
          <p:cNvSpPr>
            <a:spLocks noGrp="1"/>
          </p:cNvSpPr>
          <p:nvPr/>
        </p:nvSpPr>
        <p:spPr>
          <a:xfrm>
            <a:off x="6267450" y="2724150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설명 점수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D87464-D7B3-4D5E-897F-1E1C15186558}"/>
              </a:ext>
            </a:extLst>
          </p:cNvPr>
          <p:cNvSpPr>
            <a:spLocks noGrp="1"/>
          </p:cNvSpPr>
          <p:nvPr/>
        </p:nvSpPr>
        <p:spPr>
          <a:xfrm>
            <a:off x="6267450" y="3238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E2F0DB"/>
                </a:solidFill>
              </a:defRPr>
            </a:pPr>
            <a:r>
              <a:rPr sz="1050" b="0">
                <a:solidFill>
                  <a:srgbClr val="E2F0DB"/>
                </a:solidFill>
              </a:rPr>
              <a:t>고정 가중치 휴리스틱으로 후보화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A94FCF4-2FE3-40F7-B538-ECB33B4E28CE}"/>
              </a:ext>
            </a:extLst>
          </p:cNvPr>
          <p:cNvSpPr>
            <a:spLocks noGrp="1"/>
          </p:cNvSpPr>
          <p:nvPr/>
        </p:nvSpPr>
        <p:spPr>
          <a:xfrm>
            <a:off x="8772525" y="2095500"/>
            <a:ext cx="2333625" cy="1809750"/>
          </a:xfrm>
          <a:prstGeom prst="roundRect">
            <a:avLst>
              <a:gd name="adj" fmla="val 6316"/>
            </a:avLst>
          </a:prstGeom>
          <a:solidFill>
            <a:srgbClr val="E7F0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AC4C4F-2A92-4F10-8956-73E8B8A2417C}"/>
              </a:ext>
            </a:extLst>
          </p:cNvPr>
          <p:cNvSpPr>
            <a:spLocks noGrp="1"/>
          </p:cNvSpPr>
          <p:nvPr/>
        </p:nvSpPr>
        <p:spPr>
          <a:xfrm>
            <a:off x="8963025" y="23241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513A"/>
                </a:solidFill>
              </a:defRPr>
            </a:pPr>
            <a:r>
              <a:rPr sz="1050" b="1">
                <a:solidFill>
                  <a:srgbClr val="1D513A"/>
                </a:solidFill>
              </a:rPr>
              <a:t>04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CCEEB0-EAF4-4E3C-92AE-B262A7541593}"/>
              </a:ext>
            </a:extLst>
          </p:cNvPr>
          <p:cNvSpPr>
            <a:spLocks noGrp="1"/>
          </p:cNvSpPr>
          <p:nvPr/>
        </p:nvSpPr>
        <p:spPr>
          <a:xfrm>
            <a:off x="8963025" y="2724150"/>
            <a:ext cx="1952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629"/>
                </a:solidFill>
              </a:defRPr>
            </a:pPr>
            <a:r>
              <a:rPr sz="1650" b="1">
                <a:solidFill>
                  <a:srgbClr val="173629"/>
                </a:solidFill>
              </a:rPr>
              <a:t>한계 표시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75584A6-967B-40EE-9368-5809F96E7F68}"/>
              </a:ext>
            </a:extLst>
          </p:cNvPr>
          <p:cNvSpPr>
            <a:spLocks noGrp="1"/>
          </p:cNvSpPr>
          <p:nvPr/>
        </p:nvSpPr>
        <p:spPr>
          <a:xfrm>
            <a:off x="8963025" y="3238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4736A"/>
                </a:solidFill>
              </a:defRPr>
            </a:pPr>
            <a:r>
              <a:rPr sz="1050" b="0">
                <a:solidFill>
                  <a:srgbClr val="64736A"/>
                </a:solidFill>
              </a:rPr>
              <a:t>mock·참고 통계·불확실성을 명시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BE17573-815F-4D76-B11A-232227C152E8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0096500" cy="857250"/>
          </a:xfrm>
          <a:prstGeom prst="roundRect">
            <a:avLst>
              <a:gd name="adj" fmla="val 13333"/>
            </a:avLst>
          </a:prstGeom>
          <a:solidFill>
            <a:srgbClr val="FFF1D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4BEBF0-D419-41C2-9E23-86241F0D4C01}"/>
              </a:ext>
            </a:extLst>
          </p:cNvPr>
          <p:cNvSpPr>
            <a:spLocks noGrp="1"/>
          </p:cNvSpPr>
          <p:nvPr/>
        </p:nvSpPr>
        <p:spPr>
          <a:xfrm>
            <a:off x="914400" y="4714875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67827"/>
                </a:solidFill>
              </a:defRPr>
            </a:pPr>
            <a:r>
              <a:rPr sz="1500" b="1">
                <a:solidFill>
                  <a:srgbClr val="C67827"/>
                </a:solidFill>
              </a:rPr>
              <a:t>NEXT SPOT은 “여기가 확실한 핫플”이라고 말하지 않습니다.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D23F0C-8FFC-433D-8144-AEF585AEAF59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73629"/>
                </a:solidFill>
              </a:defRPr>
            </a:pPr>
            <a:r>
              <a:rPr sz="1275" b="1">
                <a:solidFill>
                  <a:srgbClr val="173629"/>
                </a:solidFill>
              </a:rPr>
              <a:t>“변화 신호가 관찰되며, 아직 과밀하지 않은 후보”라고 말합니다.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DE139A-BB65-49B8-8C2E-43209CF3CCEB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[Sources] 서비스 내 데이터 출처·기준일·불확실성 안내 문구와 동일한 원칙</a:t>
            </a:r>
          </a:p>
        </p:txBody>
      </p:sp>
    </p:spTree>
    <p:extLst>
      <p:ext uri="{BB962C8B-B14F-4D97-AF65-F5344CB8AC3E}">
        <p14:creationId xmlns:p14="http://schemas.microsoft.com/office/powerpoint/2010/main" val="8836916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DocSecurity>0</DocSecurity>
  <PresentationFormat>와이드스크린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나연 김</cp:lastModifiedBy>
  <cp:revision>1</cp:revision>
  <dcterms:created xsi:type="dcterms:W3CDTF">2026-08-18T14:14:22Z</dcterms:created>
  <dcterms:modified xsi:type="dcterms:W3CDTF">2026-08-18T14:34:02Z</dcterms:modified>
</cp:coreProperties>
</file>