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06105fe9b04380" /><Relationship Type="http://schemas.openxmlformats.org/officeDocument/2006/relationships/extended-properties" Target="/docProps/app.xml" Id="Rb5ad995eac1f4872" /><Relationship Type="http://schemas.openxmlformats.org/officeDocument/2006/relationships/officeDocument" Target="/ppt/presentation.xml" Id="R5d671d3a21ef44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deafc858e4410e"/>
  </p:sldMasterIdLst>
  <p:notesMasterIdLst>
    <p:notesMasterId xmlns:r="http://schemas.openxmlformats.org/officeDocument/2006/relationships" r:id="Rad82c99a5b494c8c"/>
  </p:notesMasterIdLst>
  <p:sldIdLst>
    <p:sldId xmlns:r="http://schemas.openxmlformats.org/officeDocument/2006/relationships" id="256" r:id="Rb0ff7122c4b04778"/>
    <p:sldId xmlns:r="http://schemas.openxmlformats.org/officeDocument/2006/relationships" id="257" r:id="R7b2f371374114bcc"/>
    <p:sldId xmlns:r="http://schemas.openxmlformats.org/officeDocument/2006/relationships" id="258" r:id="Ree75fb0239094b59"/>
    <p:sldId xmlns:r="http://schemas.openxmlformats.org/officeDocument/2006/relationships" id="259" r:id="Rb9e4f6eafb5d47fd"/>
    <p:sldId xmlns:r="http://schemas.openxmlformats.org/officeDocument/2006/relationships" id="260" r:id="R03303820d8b541f4"/>
    <p:sldId xmlns:r="http://schemas.openxmlformats.org/officeDocument/2006/relationships" id="261" r:id="Rfe96da3ed1e3413d"/>
    <p:sldId xmlns:r="http://schemas.openxmlformats.org/officeDocument/2006/relationships" id="262" r:id="Rb0f924eeb071418e"/>
    <p:sldId xmlns:r="http://schemas.openxmlformats.org/officeDocument/2006/relationships" id="263" r:id="Rf664ed7b866b4723"/>
    <p:sldId xmlns:r="http://schemas.openxmlformats.org/officeDocument/2006/relationships" id="264" r:id="Re96de53fc1e84ea8"/>
    <p:sldId xmlns:r="http://schemas.openxmlformats.org/officeDocument/2006/relationships" id="265" r:id="Rf45c9dfbfa5643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a9ed237d0a4f46" /><Relationship Type="http://schemas.openxmlformats.org/officeDocument/2006/relationships/slideMaster" Target="/ppt/slideMasters/slideMaster1.xml" Id="R4adeafc858e4410e" /><Relationship Type="http://schemas.openxmlformats.org/officeDocument/2006/relationships/notesMaster" Target="/ppt/notesMasters/notesMaster1.xml" Id="Rad82c99a5b494c8c" /><Relationship Type="http://schemas.openxmlformats.org/officeDocument/2006/relationships/presProps" Target="/ppt/presProps.xml" Id="R4b08fb398b6f4993" /><Relationship Type="http://schemas.openxmlformats.org/officeDocument/2006/relationships/viewProps" Target="/ppt/viewProps.xml" Id="R0fe6216dffe14acb" /><Relationship Type="http://schemas.openxmlformats.org/officeDocument/2006/relationships/tableStyles" Target="/ppt/tableStyles.xml" Id="Rbe13088b09344b22" /><Relationship Type="http://schemas.openxmlformats.org/officeDocument/2006/relationships/slide" Target="/ppt/slides/slide1.xml" Id="Rb0ff7122c4b04778" /><Relationship Type="http://schemas.openxmlformats.org/officeDocument/2006/relationships/slide" Target="/ppt/slides/slide2.xml" Id="R7b2f371374114bcc" /><Relationship Type="http://schemas.openxmlformats.org/officeDocument/2006/relationships/slide" Target="/ppt/slides/slide3.xml" Id="Ree75fb0239094b59" /><Relationship Type="http://schemas.openxmlformats.org/officeDocument/2006/relationships/slide" Target="/ppt/slides/slide4.xml" Id="Rb9e4f6eafb5d47fd" /><Relationship Type="http://schemas.openxmlformats.org/officeDocument/2006/relationships/slide" Target="/ppt/slides/slide5.xml" Id="R03303820d8b541f4" /><Relationship Type="http://schemas.openxmlformats.org/officeDocument/2006/relationships/slide" Target="/ppt/slides/slide6.xml" Id="Rfe96da3ed1e3413d" /><Relationship Type="http://schemas.openxmlformats.org/officeDocument/2006/relationships/slide" Target="/ppt/slides/slide7.xml" Id="Rb0f924eeb071418e" /><Relationship Type="http://schemas.openxmlformats.org/officeDocument/2006/relationships/slide" Target="/ppt/slides/slide8.xml" Id="Rf664ed7b866b4723" /><Relationship Type="http://schemas.openxmlformats.org/officeDocument/2006/relationships/slide" Target="/ppt/slides/slide9.xml" Id="Re96de53fc1e84ea8" /><Relationship Type="http://schemas.openxmlformats.org/officeDocument/2006/relationships/slide" Target="/ppt/slides/slide10.xml" Id="Rf45c9dfbfa5643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84b6870a8c4a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ba7cc3bbc44b5a" /><Relationship Type="http://schemas.openxmlformats.org/officeDocument/2006/relationships/notesMaster" Target="/ppt/notesMasters/notesMaster1.xml" Id="R08d205a4461343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fc2bf5aaf348c4" /><Relationship Type="http://schemas.openxmlformats.org/officeDocument/2006/relationships/notesMaster" Target="/ppt/notesMasters/notesMaster1.xml" Id="Rc4885ae3908448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28ae8d682d4104" /><Relationship Type="http://schemas.openxmlformats.org/officeDocument/2006/relationships/notesMaster" Target="/ppt/notesMasters/notesMaster1.xml" Id="R93aef0f78e8447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bdd92bdd60437a" /><Relationship Type="http://schemas.openxmlformats.org/officeDocument/2006/relationships/notesMaster" Target="/ppt/notesMasters/notesMaster1.xml" Id="R72148995e33e47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1b468cebef4bfc" /><Relationship Type="http://schemas.openxmlformats.org/officeDocument/2006/relationships/notesMaster" Target="/ppt/notesMasters/notesMaster1.xml" Id="Rba8334edfc3f4b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b73d59c4254c87" /><Relationship Type="http://schemas.openxmlformats.org/officeDocument/2006/relationships/notesMaster" Target="/ppt/notesMasters/notesMaster1.xml" Id="R6560001933ca42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cd44d224394637" /><Relationship Type="http://schemas.openxmlformats.org/officeDocument/2006/relationships/notesMaster" Target="/ppt/notesMasters/notesMaster1.xml" Id="R5d47c93279fc41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463ce1b35e4ea6" /><Relationship Type="http://schemas.openxmlformats.org/officeDocument/2006/relationships/notesMaster" Target="/ppt/notesMasters/notesMaster1.xml" Id="R313fd003e27040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dfc5b093694b87" /><Relationship Type="http://schemas.openxmlformats.org/officeDocument/2006/relationships/notesMaster" Target="/ppt/notesMasters/notesMaster1.xml" Id="R476f911fba1b4c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a81bc0f953426e" /><Relationship Type="http://schemas.openxmlformats.org/officeDocument/2006/relationships/notesMaster" Target="/ppt/notesMasters/notesMaster1.xml" Id="Rd52357de8e8e45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8c471f7c1842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7bf0ca44b74058" /><Relationship Type="http://schemas.openxmlformats.org/officeDocument/2006/relationships/slideLayout" Target="/ppt/slideLayouts/slideLayout1.xml" Id="Rcd3339764b4745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3339764b4745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216f709b84bf8" /><Relationship Type="http://schemas.openxmlformats.org/officeDocument/2006/relationships/notesSlide" Target="/ppt/notesSlides/notesSlide1.xml" Id="R1ece858e245b42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7eb28116743a6" /><Relationship Type="http://schemas.openxmlformats.org/officeDocument/2006/relationships/notesSlide" Target="/ppt/notesSlides/notesSlide2.xml" Id="R0870e9983af64b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905474ee14322" /><Relationship Type="http://schemas.openxmlformats.org/officeDocument/2006/relationships/image" Target="/ppt/media/image.png" Id="R52d7cb5786684150" /><Relationship Type="http://schemas.openxmlformats.org/officeDocument/2006/relationships/notesSlide" Target="/ppt/notesSlides/notesSlide3.xml" Id="Re2238b2b91544c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8f27bdad14fdb" /><Relationship Type="http://schemas.openxmlformats.org/officeDocument/2006/relationships/image" Target="/ppt/media/image2.png" Id="R3d52c948b90c4018" /><Relationship Type="http://schemas.openxmlformats.org/officeDocument/2006/relationships/notesSlide" Target="/ppt/notesSlides/notesSlide4.xml" Id="R0def2e8707154d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708d153d04c7a" /><Relationship Type="http://schemas.openxmlformats.org/officeDocument/2006/relationships/notesSlide" Target="/ppt/notesSlides/notesSlide5.xml" Id="R6fa56ba8d02c47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159bdc4024686" /><Relationship Type="http://schemas.openxmlformats.org/officeDocument/2006/relationships/notesSlide" Target="/ppt/notesSlides/notesSlide6.xml" Id="R103a7163563443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e202695a84c23" /><Relationship Type="http://schemas.openxmlformats.org/officeDocument/2006/relationships/notesSlide" Target="/ppt/notesSlides/notesSlide7.xml" Id="R8b368acadc4945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c50dd47324978" /><Relationship Type="http://schemas.openxmlformats.org/officeDocument/2006/relationships/notesSlide" Target="/ppt/notesSlides/notesSlide8.xml" Id="R9f76ff9114a744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0910126624000" /><Relationship Type="http://schemas.openxmlformats.org/officeDocument/2006/relationships/notesSlide" Target="/ppt/notesSlides/notesSlide9.xml" Id="R9a3f9557759841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c01d366ba419f" /><Relationship Type="http://schemas.openxmlformats.org/officeDocument/2006/relationships/notesSlide" Target="/ppt/notesSlides/notesSlide10.xml" Id="R685bc4933da944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4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2BC3A9C4-3C44-43FE-BD03-EFC94E13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CECC9"/>
                </a:solidFill>
              </a:defRPr>
            </a:pPr>
            <a:r>
              <a:rPr sz="1500" b="1">
                <a:solidFill>
                  <a:srgbClr val="DCECC9"/>
                </a:solidFill>
              </a:rPr>
              <a:t>NEXT SPOT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8A772088-0078-47B5-A7E0-B96451FB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“서울은 너무 붐비고…</a:t>
            </a:r>
          </a:p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새로운 곳은 어디 없을까?”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0AB3D82B-C175-458B-B870-82FEFD63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C9DDCC"/>
                </a:solidFill>
              </a:defRPr>
            </a:pPr>
            <a:r>
              <a:rPr sz="1650" b="0">
                <a:solidFill>
                  <a:srgbClr val="C9DDCC"/>
                </a:solidFill>
              </a:rPr>
              <a:t>퇴근 후 혼자 쉬고 싶은 날, 주말에 조용한 데이트를 하고 싶은 날</a:t>
            </a:r>
          </a:p>
          <a:p xmlns:a="http://schemas.openxmlformats.org/drawingml/2006/main">
            <a:pPr>
              <a:buNone/>
              <a:defRPr sz="1650" b="0">
                <a:solidFill>
                  <a:srgbClr val="C9DDCC"/>
                </a:solidFill>
              </a:defRPr>
            </a:pPr>
            <a:r>
              <a:rPr sz="1650" b="0">
                <a:solidFill>
                  <a:srgbClr val="C9DDCC"/>
                </a:solidFill>
              </a:rPr>
              <a:t>우리는 이미 유명해진 핫플 말고 아직 과밀하지 않은 동네를 찾습니다.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09335E59-F5EF-467B-A295-7203D807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CECC9"/>
                </a:solidFill>
              </a:defRPr>
            </a:pPr>
            <a:r>
              <a:rPr sz="1350" b="1">
                <a:solidFill>
                  <a:srgbClr val="DCECC9"/>
                </a:solidFill>
              </a:rPr>
              <a:t>그 질문에서 NEXT SPOT이 시작됐습니다.</a:t>
            </a:r>
          </a:p>
        </p:txBody>
      </p:sp>
    </p:spTree>
    <p:extLst>
      <p:ext uri="{BB962C8B-B14F-4D97-AF65-F5344CB8AC3E}">
        <p14:creationId xmlns:p14="http://schemas.microsoft.com/office/powerpoint/2010/main" val="97032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FAC00082-730D-4615-85A5-7D99F68A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01 · USER SCENARIO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AFDFA36-1E59-4C39-BC9F-F8255CD8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사용자의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진짜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질문은</a:t>
            </a:r>
            <a:r>
              <a:rPr sz="2850" b="1">
                <a:solidFill>
                  <a:srgbClr val="18231D"/>
                </a:solidFill>
              </a:rPr>
              <a:t> “</a:t>
            </a:r>
            <a:r>
              <a:rPr sz="2850" b="1">
                <a:solidFill>
                  <a:srgbClr val="18231D"/>
                </a:solidFill>
              </a:rPr>
              <a:t>어디가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유명해</a:t>
            </a:r>
            <a:r>
              <a:rPr sz="2850" b="1">
                <a:solidFill>
                  <a:srgbClr val="18231D"/>
                </a:solidFill>
              </a:rPr>
              <a:t>?”가 </a:t>
            </a:r>
            <a:r>
              <a:rPr sz="2850" b="1">
                <a:solidFill>
                  <a:srgbClr val="18231D"/>
                </a:solidFill>
              </a:rPr>
              <a:t>아니라</a:t>
            </a:r>
            <a:r>
              <a:rPr sz="2850" b="1">
                <a:solidFill>
                  <a:srgbClr val="18231D"/>
                </a:solidFill>
              </a:rPr>
              <a:t> </a:t>
            </a:r>
            <a:endParaRPr sz="2850" b="1">
              <a:solidFill>
                <a:srgbClr val="18231D"/>
              </a:solidFill>
            </a:endParaRPr>
          </a:p>
          <a:p xmlns:a="http://schemas.openxmlformats.org/drawingml/2006/main"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“</a:t>
            </a:r>
            <a:r>
              <a:rPr sz="2850" b="1">
                <a:solidFill>
                  <a:srgbClr val="18231D"/>
                </a:solidFill>
              </a:rPr>
              <a:t>어디가</a:t>
            </a:r>
            <a:r>
              <a:rPr sz="2850" b="1">
                <a:solidFill>
                  <a:srgbClr val="18231D"/>
                </a:solidFill>
              </a:rPr>
              <a:t> 곧 </a:t>
            </a:r>
            <a:r>
              <a:rPr sz="2850" b="1">
                <a:solidFill>
                  <a:srgbClr val="18231D"/>
                </a:solidFill>
              </a:rPr>
              <a:t>좋아질까</a:t>
            </a:r>
            <a:r>
              <a:rPr sz="2850" b="1">
                <a:solidFill>
                  <a:srgbClr val="18231D"/>
                </a:solidFill>
              </a:rPr>
              <a:t>?”</a:t>
            </a:r>
            <a:r>
              <a:rPr sz="2850" b="1">
                <a:solidFill>
                  <a:srgbClr val="18231D"/>
                </a:solidFill>
              </a:rPr>
              <a:t>입니다</a:t>
            </a:r>
            <a:r>
              <a:rPr sz="2850" b="1">
                <a:solidFill>
                  <a:srgbClr val="18231D"/>
                </a:solidFill>
              </a:rPr>
              <a:t>.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7083764F-6E43-47F9-9607-0CA88C0B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8231D"/>
                </a:solidFill>
              </a:defRPr>
            </a:pPr>
            <a:r>
              <a:rPr sz="1800" b="0">
                <a:solidFill>
                  <a:srgbClr val="18231D"/>
                </a:solidFill>
              </a:rPr>
              <a:t>퇴근 후, 이미 붐비는 성수·연남 대신 조용하지만 분위기 있는 동네를 찾는다.</a:t>
            </a:r>
          </a:p>
        </p:txBody>
      </p:sp>
      <p:sp>
        <p:nvSpPr>
          <p:cNvPr id="4" name="사각형: 둥근 모서리 3">
            <a:extLst xmlns:a="http://schemas.openxmlformats.org/drawingml/2006/main">
              <a:ext uri="{FF2B5EF4-FFF2-40B4-BE49-F238E27FC236}">
                <a16:creationId xmlns:a16="http://schemas.microsoft.com/office/drawing/2014/main" id="{7898E2D1-6FDD-46B5-BAD3-782272FE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CC34ADA-4202-44BC-A570-25DF13DE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37168"/>
                </a:solidFill>
              </a:defRPr>
            </a:pPr>
            <a:r>
              <a:rPr sz="1350" b="1">
                <a:solidFill>
                  <a:srgbClr val="637168"/>
                </a:solidFill>
              </a:rPr>
              <a:t>상황</a:t>
            </a:r>
            <a:endParaRPr sz="1350" b="1">
              <a:solidFill>
                <a:srgbClr val="637168"/>
              </a:solidFill>
            </a:endParaRP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BC987BA3-20EE-4230-B63B-61422C0D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8231D"/>
                </a:solidFill>
              </a:defRPr>
            </a:pPr>
            <a:r>
              <a:rPr sz="1725" b="1">
                <a:solidFill>
                  <a:srgbClr val="18231D"/>
                </a:solidFill>
              </a:rPr>
              <a:t>사람은 많고, 대기는 싫다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B22A8E6B-D10C-4F5D-9837-84A29C2E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C4B36"/>
          </a:solidFill>
          <a:ln xmlns:a="http://schemas.openxmlformats.org/drawingml/2006/main" w="0">
            <a:solidFill>
              <a:srgbClr val="1C4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57775C9D-67B8-4FD0-94BB-24FC5654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CECC9"/>
                </a:solidFill>
              </a:defRPr>
            </a:pPr>
            <a:r>
              <a:rPr sz="1350" b="1">
                <a:solidFill>
                  <a:srgbClr val="DCECC9"/>
                </a:solidFill>
              </a:rPr>
              <a:t>기존 행동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B684626E-2CDC-4A95-A1F7-08ABC574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718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인스타그램·지도·AI에</a:t>
            </a:r>
            <a:r>
              <a:rPr sz="1725" b="1">
                <a:solidFill>
                  <a:srgbClr val="FFFFFF"/>
                </a:solidFill>
              </a:rPr>
              <a:t> </a:t>
            </a:r>
            <a:endParaRPr sz="1725" b="1">
              <a:solidFill>
                <a:srgbClr val="FFFFFF"/>
              </a:solidFill>
            </a:endParaRPr>
          </a:p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검색한다</a:t>
            </a:r>
            <a:endParaRPr sz="1725" b="1">
              <a:solidFill>
                <a:srgbClr val="FFFFFF"/>
              </a:solidFill>
            </a:endParaRP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C357473A-9925-416D-9B7A-0617A911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491EEE55-7D01-43C0-908E-A80087CC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37168"/>
                </a:solidFill>
              </a:defRPr>
            </a:pPr>
            <a:r>
              <a:rPr sz="1350" b="1">
                <a:solidFill>
                  <a:srgbClr val="637168"/>
                </a:solidFill>
              </a:rPr>
              <a:t>남은</a:t>
            </a:r>
            <a:r>
              <a:rPr sz="1350" b="1">
                <a:solidFill>
                  <a:srgbClr val="637168"/>
                </a:solidFill>
              </a:rPr>
              <a:t> </a:t>
            </a:r>
            <a:r>
              <a:rPr sz="1350" b="1">
                <a:solidFill>
                  <a:srgbClr val="637168"/>
                </a:solidFill>
              </a:rPr>
              <a:t>PAIN</a:t>
            </a:r>
            <a:endParaRPr sz="1350" b="1">
              <a:solidFill>
                <a:srgbClr val="637168"/>
              </a:solidFill>
            </a:endParaRP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2B6F725D-AD83-4108-8D5F-9703CACC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718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8231D"/>
                </a:solidFill>
              </a:defRPr>
            </a:pPr>
            <a:r>
              <a:rPr sz="1725" b="1">
                <a:solidFill>
                  <a:srgbClr val="18231D"/>
                </a:solidFill>
              </a:rPr>
              <a:t>결과는 이미 유명한 장소 중심이다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D08FD1B3-6292-4578-9C4F-056011AB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2</a:t>
            </a:r>
          </a:p>
        </p:txBody>
      </p:sp>
    </p:spTree>
    <p:extLst>
      <p:ext uri="{BB962C8B-B14F-4D97-AF65-F5344CB8AC3E}">
        <p14:creationId xmlns:p14="http://schemas.microsoft.com/office/powerpoint/2010/main" val="5516974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6CB15CFE-4BF4-44E1-A647-D3A6DC0F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02 · EXPERIENCE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44F9476E-EA35-4492-B667-8110121E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키워드를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입력하면</a:t>
            </a:r>
            <a:r>
              <a:rPr sz="2850" b="1">
                <a:solidFill>
                  <a:srgbClr val="18231D"/>
                </a:solidFill>
              </a:rPr>
              <a:t>, </a:t>
            </a:r>
            <a:r>
              <a:rPr sz="2850" b="1">
                <a:solidFill>
                  <a:srgbClr val="18231D"/>
                </a:solidFill>
              </a:rPr>
              <a:t>지도와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근거가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함께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나옵니다</a:t>
            </a:r>
            <a:r>
              <a:rPr sz="2850" b="1">
                <a:solidFill>
                  <a:srgbClr val="18231D"/>
                </a:solidFill>
              </a:rPr>
              <a:t>.</a:t>
            </a:r>
          </a:p>
        </p:txBody>
      </p:sp>
      <p:pic>
        <p:nvPicPr>
          <p:cNvPr id="23" name="그림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7cb57866841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94833" y="1409700"/>
            <a:ext cx="8659433" cy="54966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42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5CDB28B7-86CE-46EF-B9DD-FBFA6173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03 · DATA LOGIC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8B13569-B9D4-442A-9E94-CE1E1C95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5727"/>
            <a:ext cx="1122947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NEXT SPOT </a:t>
            </a:r>
            <a:r>
              <a:rPr sz="2850" b="1">
                <a:solidFill>
                  <a:srgbClr val="18231D"/>
                </a:solidFill>
              </a:rPr>
              <a:t>점수는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예측값이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아니라</a:t>
            </a:r>
            <a:r>
              <a:rPr sz="2850" b="1">
                <a:solidFill>
                  <a:srgbClr val="18231D"/>
                </a:solidFill>
              </a:rPr>
              <a:t>, </a:t>
            </a:r>
            <a:r>
              <a:rPr sz="2850" b="1">
                <a:solidFill>
                  <a:srgbClr val="18231D"/>
                </a:solidFill>
              </a:rPr>
              <a:t>설명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가능한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신호의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조합입니다</a:t>
            </a:r>
            <a:r>
              <a:rPr sz="2850" b="1">
                <a:solidFill>
                  <a:srgbClr val="18231D"/>
                </a:solidFill>
              </a:rPr>
              <a:t>.</a:t>
            </a:r>
          </a:p>
        </p:txBody>
      </p:sp>
      <p:sp>
        <p:nvSpPr>
          <p:cNvPr id="3" name="사각형: 둥근 모서리 2">
            <a:extLst xmlns:a="http://schemas.openxmlformats.org/drawingml/2006/main">
              <a:ext uri="{FF2B5EF4-FFF2-40B4-BE49-F238E27FC236}">
                <a16:creationId xmlns:a16="http://schemas.microsoft.com/office/drawing/2014/main" id="{625AFF56-90A4-45E8-8BD8-C8F8D053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292" y="1526507"/>
            <a:ext cx="3238500" cy="1577139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C4B36"/>
          </a:solidFill>
          <a:ln xmlns:a="http://schemas.openxmlformats.org/drawingml/2006/main" w="0">
            <a:solidFill>
              <a:srgbClr val="1C4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63889448-533D-4D23-9B55-EFA768B7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230" y="1817771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변화 점수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34CA7C70-E054-493B-8576-865BC77A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230" y="2436896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8E9D1"/>
                </a:solidFill>
              </a:defRPr>
            </a:pPr>
            <a:r>
              <a:rPr sz="1350" b="0">
                <a:solidFill>
                  <a:srgbClr val="D8E9D1"/>
                </a:solidFill>
              </a:rPr>
              <a:t>신규 설치 · 인구/세대</a:t>
            </a:r>
          </a:p>
          <a:p xmlns:a="http://schemas.openxmlformats.org/drawingml/2006/main">
            <a:pPr>
              <a:buNone/>
              <a:defRPr sz="1350" b="0">
                <a:solidFill>
                  <a:srgbClr val="D8E9D1"/>
                </a:solidFill>
              </a:defRPr>
            </a:pPr>
            <a:r>
              <a:rPr sz="1350" b="0">
                <a:solidFill>
                  <a:srgbClr val="D8E9D1"/>
                </a:solidFill>
              </a:rPr>
              <a:t>입주 · 점포 · 문화공간 · 생활인구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6FD9D9F3-5133-475C-8E70-02687A02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7380" y="1764632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CECC9"/>
                </a:solidFill>
              </a:defRPr>
            </a:pPr>
            <a:r>
              <a:rPr sz="1875" b="1">
                <a:solidFill>
                  <a:srgbClr val="DCECC9"/>
                </a:solidFill>
              </a:rPr>
              <a:t>50%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96585CB2-6EA3-4C02-B51E-6F84A53F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292" y="3225954"/>
            <a:ext cx="3238500" cy="1517483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46D89B2-14DD-4FF1-83BC-3509F319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230" y="3365571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8231D"/>
                </a:solidFill>
              </a:defRPr>
            </a:pPr>
            <a:r>
              <a:rPr sz="1650" b="1">
                <a:solidFill>
                  <a:srgbClr val="18231D"/>
                </a:solidFill>
              </a:rPr>
              <a:t>발견</a:t>
            </a:r>
            <a:r>
              <a:rPr sz="1650" b="1">
                <a:solidFill>
                  <a:srgbClr val="18231D"/>
                </a:solidFill>
              </a:rPr>
              <a:t> </a:t>
            </a:r>
            <a:r>
              <a:rPr sz="1650" b="1">
                <a:solidFill>
                  <a:srgbClr val="18231D"/>
                </a:solidFill>
              </a:rPr>
              <a:t>점수</a:t>
            </a:r>
            <a:endParaRPr sz="1650" b="1">
              <a:solidFill>
                <a:srgbClr val="18231D"/>
              </a:solidFill>
            </a:endParaRP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2607F8B6-62BD-423A-B778-B5CBE1BA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230" y="3984696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업종</a:t>
            </a:r>
            <a:r>
              <a:rPr sz="1350" b="0">
                <a:solidFill>
                  <a:srgbClr val="637168"/>
                </a:solidFill>
              </a:rPr>
              <a:t> </a:t>
            </a:r>
            <a:r>
              <a:rPr sz="1350" b="0">
                <a:solidFill>
                  <a:srgbClr val="637168"/>
                </a:solidFill>
              </a:rPr>
              <a:t>다양성</a:t>
            </a:r>
            <a:r>
              <a:rPr sz="1350" b="0">
                <a:solidFill>
                  <a:srgbClr val="637168"/>
                </a:solidFill>
              </a:rPr>
              <a:t> · </a:t>
            </a:r>
            <a:r>
              <a:rPr sz="1350" b="0">
                <a:solidFill>
                  <a:srgbClr val="637168"/>
                </a:solidFill>
              </a:rPr>
              <a:t>문화</a:t>
            </a:r>
            <a:r>
              <a:rPr sz="1350" b="0">
                <a:solidFill>
                  <a:srgbClr val="637168"/>
                </a:solidFill>
              </a:rPr>
              <a:t> </a:t>
            </a:r>
            <a:r>
              <a:rPr sz="1350" b="0">
                <a:solidFill>
                  <a:srgbClr val="637168"/>
                </a:solidFill>
              </a:rPr>
              <a:t>다양성</a:t>
            </a:r>
            <a:endParaRPr sz="1350" b="0">
              <a:solidFill>
                <a:srgbClr val="637168"/>
              </a:solidFill>
            </a:endParaRPr>
          </a:p>
          <a:p xmlns:a="http://schemas.openxmlformats.org/drawingml/2006/main">
            <a:pPr>
              <a:buNone/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혼잡도</a:t>
            </a:r>
            <a:r>
              <a:rPr sz="1350" b="0">
                <a:solidFill>
                  <a:srgbClr val="637168"/>
                </a:solidFill>
              </a:rPr>
              <a:t> </a:t>
            </a:r>
            <a:r>
              <a:rPr sz="1350" b="0">
                <a:solidFill>
                  <a:srgbClr val="637168"/>
                </a:solidFill>
              </a:rPr>
              <a:t>페널티</a:t>
            </a:r>
            <a:endParaRPr sz="1350" b="0">
              <a:solidFill>
                <a:srgbClr val="637168"/>
              </a:solidFill>
            </a:endParaRP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D6F68548-666C-4BFB-84DE-34B85FE4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5455" y="3331482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57925B"/>
                </a:solidFill>
              </a:defRPr>
            </a:pPr>
            <a:r>
              <a:rPr sz="1875" b="1">
                <a:solidFill>
                  <a:srgbClr val="57925B"/>
                </a:solidFill>
              </a:rPr>
              <a:t>30%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565C778C-073C-4A7D-BBDC-F2660C96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292" y="4867275"/>
            <a:ext cx="3238500" cy="1571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B5ADC07C-11ED-436A-AF36-D563E513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892" y="51530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8231D"/>
                </a:solidFill>
              </a:defRPr>
            </a:pPr>
            <a:r>
              <a:rPr sz="1650" b="1">
                <a:solidFill>
                  <a:srgbClr val="18231D"/>
                </a:solidFill>
              </a:rPr>
              <a:t>방문 적합 점수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2F54774-D939-4E42-B84E-6A095B37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892" y="57721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현재 혼잡도 · 생활인구</a:t>
            </a:r>
          </a:p>
          <a:p xmlns:a="http://schemas.openxmlformats.org/drawingml/2006/main">
            <a:pPr>
              <a:buNone/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카페·식사·문화 연결성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826780A8-CFA4-4FF0-9B0E-5C9D03B5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9842" y="51244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57925B"/>
                </a:solidFill>
              </a:defRPr>
            </a:pPr>
            <a:r>
              <a:rPr sz="1875" b="1">
                <a:solidFill>
                  <a:srgbClr val="57925B"/>
                </a:solidFill>
              </a:rPr>
              <a:t>20%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C94DB408-0277-4BE4-AC3B-8914FCA0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55" y="5992228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8231D"/>
                </a:solidFill>
              </a:defRPr>
            </a:pPr>
            <a:r>
              <a:rPr sz="1500" b="0">
                <a:solidFill>
                  <a:srgbClr val="18231D"/>
                </a:solidFill>
              </a:rPr>
              <a:t>모든 입력값은 0~100으로 정규화하며, 각 지역의 기여 요인을 함께 보여줍니다.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F41CB394-100F-4EB5-9086-BC38396B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4</a:t>
            </a:r>
          </a:p>
        </p:txBody>
      </p:sp>
      <p:pic>
        <p:nvPicPr>
          <p:cNvPr id="35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2c948b90c40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24250"/>
            <a:ext cx="6868484" cy="39534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11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602BFA20-03FE-4F6C-95AA-15F6C3E5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04 · TRANSPARENT EVIDENCE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5B402803-C08D-44C6-811C-36EA7108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NEXT SPOT의 핵심은 “왜 추천했는가”를 보여주는 것입니다.</a:t>
            </a:r>
          </a:p>
        </p:txBody>
      </p:sp>
      <p:sp>
        <p:nvSpPr>
          <p:cNvPr id="3" name="사각형: 둥근 모서리 2">
            <a:extLst xmlns:a="http://schemas.openxmlformats.org/drawingml/2006/main">
              <a:ext uri="{FF2B5EF4-FFF2-40B4-BE49-F238E27FC236}">
                <a16:creationId xmlns:a16="http://schemas.microsoft.com/office/drawing/2014/main" id="{3FBA1FE6-AE6C-4F8B-82BE-C9D5AE4E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C4B36"/>
          </a:solidFill>
          <a:ln xmlns:a="http://schemas.openxmlformats.org/drawingml/2006/main" w="0">
            <a:solidFill>
              <a:srgbClr val="1C4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55CBF94-E6DC-4B3C-92DB-C4B6B79D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연남동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B78AF8A0-C23F-4745-8518-978ECA3A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CECC9"/>
                </a:solidFill>
              </a:defRPr>
            </a:pPr>
            <a:r>
              <a:rPr sz="1050" b="1">
                <a:solidFill>
                  <a:srgbClr val="DCECC9"/>
                </a:solidFill>
              </a:rPr>
              <a:t>NEXT SPOT SCORE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3BE3406-F651-48DB-9A15-4F7E1D13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87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10289AB4-BCDD-4B24-BCF4-F8F311B9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E9D1"/>
                </a:solidFill>
              </a:defRPr>
            </a:pPr>
            <a:r>
              <a:rPr sz="1275" b="0">
                <a:solidFill>
                  <a:srgbClr val="D8E9D1"/>
                </a:solidFill>
              </a:rPr>
              <a:t>현재 혼잡도 62/100 · 보통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3A48F9AC-C64B-4D3D-9432-896AEB33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485775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985775A1-F98E-4727-9E2B-49277009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43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231D"/>
                </a:solidFill>
              </a:defRPr>
            </a:pPr>
            <a:r>
              <a:rPr sz="1800" b="1">
                <a:solidFill>
                  <a:srgbClr val="18231D"/>
                </a:solidFill>
              </a:rPr>
              <a:t>왜 뜨는가?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74BCF98F-48EE-4BD4-BBE9-42B0CAA7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신규 점포 32%</a:t>
            </a:r>
          </a:p>
          <a:p xmlns:a="http://schemas.openxmlformats.org/drawingml/2006/main">
            <a:pPr>
              <a:buNone/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생활인구 18%</a:t>
            </a:r>
          </a:p>
          <a:p xmlns:a="http://schemas.openxmlformats.org/drawingml/2006/main">
            <a:pPr>
              <a:buNone/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문화공간 3개</a:t>
            </a:r>
          </a:p>
          <a:p xmlns:a="http://schemas.openxmlformats.org/drawingml/2006/main">
            <a:pPr>
              <a:buNone/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아직 과밀하지 않음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60C0B9EF-C021-439F-8EA7-5DD819F5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5</a:t>
            </a:r>
          </a:p>
        </p:txBody>
      </p:sp>
    </p:spTree>
    <p:extLst>
      <p:ext uri="{BB962C8B-B14F-4D97-AF65-F5344CB8AC3E}">
        <p14:creationId xmlns:p14="http://schemas.microsoft.com/office/powerpoint/2010/main" val="2667575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5CAC00E-C230-47AF-9244-28CC9E91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05 · BUSINESS MODEL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8F29295-6F9E-43DE-8CB5-5E407437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처음부터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구독을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팔기보다</a:t>
            </a:r>
            <a:r>
              <a:rPr sz="2850" b="1">
                <a:solidFill>
                  <a:srgbClr val="18231D"/>
                </a:solidFill>
              </a:rPr>
              <a:t>,</a:t>
            </a:r>
            <a:endParaRPr sz="2850" b="1">
              <a:solidFill>
                <a:srgbClr val="18231D"/>
              </a:solidFill>
            </a:endParaRPr>
          </a:p>
          <a:p xmlns:a="http://schemas.openxmlformats.org/drawingml/2006/main"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의사결정에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필요한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리포트부터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검증합니다</a:t>
            </a:r>
            <a:r>
              <a:rPr sz="2850" b="1">
                <a:solidFill>
                  <a:srgbClr val="18231D"/>
                </a:solidFill>
              </a:rPr>
              <a:t>.</a:t>
            </a:r>
          </a:p>
        </p:txBody>
      </p:sp>
      <p:sp>
        <p:nvSpPr>
          <p:cNvPr id="3" name="사각형: 둥근 모서리 2">
            <a:extLst xmlns:a="http://schemas.openxmlformats.org/drawingml/2006/main">
              <a:ext uri="{FF2B5EF4-FFF2-40B4-BE49-F238E27FC236}">
                <a16:creationId xmlns:a16="http://schemas.microsoft.com/office/drawing/2014/main" id="{4B88DED9-A948-4BF4-B5AB-82EEA495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09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945ACFC6-49FE-4F4E-9E59-BC44017B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7925B"/>
                </a:solidFill>
              </a:defRPr>
            </a:pPr>
            <a:r>
              <a:rPr sz="1350" b="1">
                <a:solidFill>
                  <a:srgbClr val="57925B"/>
                </a:solidFill>
              </a:rPr>
              <a:t>지금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E3D1C94E-4FB4-4E4C-B6D8-A60D33F0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02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8231D"/>
                </a:solidFill>
              </a:defRPr>
            </a:pPr>
            <a:r>
              <a:rPr sz="1575" b="1">
                <a:solidFill>
                  <a:srgbClr val="18231D"/>
                </a:solidFill>
              </a:rPr>
              <a:t>개인 사용자 무료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3076FC1E-8623-4A4D-B554-76F9946D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37168"/>
                </a:solidFill>
              </a:defRPr>
            </a:pPr>
            <a:r>
              <a:rPr sz="1275" b="0">
                <a:solidFill>
                  <a:srgbClr val="637168"/>
                </a:solidFill>
              </a:rPr>
              <a:t>키워드 탐색·지도·상세 근거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89BC83F2-4AFC-4285-8D7A-9C8334BD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009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23B85A75-7D3C-4A25-B8AD-CBFF0FD6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7925B"/>
                </a:solidFill>
              </a:defRPr>
            </a:pPr>
            <a:r>
              <a:rPr sz="1350" b="1">
                <a:solidFill>
                  <a:srgbClr val="57925B"/>
                </a:solidFill>
              </a:rPr>
              <a:t>초기 매출 실험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A3848DB6-5100-4F37-92B5-2242D98B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95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8231D"/>
                </a:solidFill>
              </a:defRPr>
            </a:pPr>
            <a:r>
              <a:rPr sz="1575" b="1">
                <a:solidFill>
                  <a:srgbClr val="18231D"/>
                </a:solidFill>
              </a:rPr>
              <a:t>1회성 출점 후보지 리포트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03BAB0A5-C63A-452D-9DEE-8723877D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242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37168"/>
                </a:solidFill>
              </a:defRPr>
            </a:pPr>
            <a:r>
              <a:rPr sz="1275" b="0">
                <a:solidFill>
                  <a:srgbClr val="637168"/>
                </a:solidFill>
              </a:rPr>
              <a:t>브랜드에 맞는 다음 후보 5곳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3B7C6323-9A6D-4EFA-97B2-A3389098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09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F0891152-B9A4-48CC-BFEC-46BF8AFB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7925B"/>
                </a:solidFill>
              </a:defRPr>
            </a:pPr>
            <a:r>
              <a:rPr sz="1350" b="1">
                <a:solidFill>
                  <a:srgbClr val="57925B"/>
                </a:solidFill>
              </a:rPr>
              <a:t>장기 확장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E49E410F-4E46-4DF3-AA9D-25D9992A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910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8231D"/>
                </a:solidFill>
              </a:defRPr>
            </a:pPr>
            <a:r>
              <a:rPr sz="1575" b="1">
                <a:solidFill>
                  <a:srgbClr val="18231D"/>
                </a:solidFill>
              </a:rPr>
              <a:t>프랜차이즈·공공기관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74519C43-880B-4479-BF90-712EAECA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96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37168"/>
                </a:solidFill>
              </a:defRPr>
            </a:pPr>
            <a:r>
              <a:rPr sz="1275" b="0">
                <a:solidFill>
                  <a:srgbClr val="637168"/>
                </a:solidFill>
              </a:rPr>
              <a:t>입지 분석·지역 변화 모니터링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1E1D9339-AA20-4F11-95D3-0E0A6DC8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9228"/>
                </a:solidFill>
              </a:defRPr>
            </a:pPr>
            <a:r>
              <a:rPr sz="1350" b="1">
                <a:solidFill>
                  <a:srgbClr val="E99228"/>
                </a:solidFill>
              </a:rPr>
              <a:t>가격과 구매 가능성은 모두 검증이 필요한 가설입니다.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0C3CD37E-CFD4-4484-AB69-BED78180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6</a:t>
            </a:r>
          </a:p>
        </p:txBody>
      </p:sp>
    </p:spTree>
    <p:extLst>
      <p:ext uri="{BB962C8B-B14F-4D97-AF65-F5344CB8AC3E}">
        <p14:creationId xmlns:p14="http://schemas.microsoft.com/office/powerpoint/2010/main" val="21108152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2FB6C9AF-E8F8-49C9-8C49-36AB40D0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06 · MVP &amp; NEXT STEP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8BBC56A-2062-4661-9E3A-1FEE7961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5시간 </a:t>
            </a:r>
            <a:r>
              <a:rPr sz="2850" b="1">
                <a:solidFill>
                  <a:srgbClr val="18231D"/>
                </a:solidFill>
              </a:rPr>
              <a:t>안에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검증할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것은</a:t>
            </a:r>
            <a:r>
              <a:rPr sz="2850" b="1">
                <a:solidFill>
                  <a:srgbClr val="18231D"/>
                </a:solidFill>
              </a:rPr>
              <a:t> “</a:t>
            </a:r>
            <a:r>
              <a:rPr sz="2850" b="1">
                <a:solidFill>
                  <a:srgbClr val="18231D"/>
                </a:solidFill>
              </a:rPr>
              <a:t>예측의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정확도”보다</a:t>
            </a:r>
            <a:r>
              <a:rPr sz="2850" b="1">
                <a:solidFill>
                  <a:srgbClr val="18231D"/>
                </a:solidFill>
              </a:rPr>
              <a:t> </a:t>
            </a:r>
            <a:endParaRPr sz="2850" b="1">
              <a:solidFill>
                <a:srgbClr val="18231D"/>
              </a:solidFill>
            </a:endParaRPr>
          </a:p>
          <a:p xmlns:a="http://schemas.openxmlformats.org/drawingml/2006/main">
            <a:pPr>
              <a:buNone/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“</a:t>
            </a:r>
            <a:r>
              <a:rPr sz="2850" b="1">
                <a:solidFill>
                  <a:srgbClr val="18231D"/>
                </a:solidFill>
              </a:rPr>
              <a:t>발견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경험의</a:t>
            </a:r>
            <a:r>
              <a:rPr sz="2850" b="1">
                <a:solidFill>
                  <a:srgbClr val="18231D"/>
                </a:solidFill>
              </a:rPr>
              <a:t> </a:t>
            </a:r>
            <a:r>
              <a:rPr sz="2850" b="1">
                <a:solidFill>
                  <a:srgbClr val="18231D"/>
                </a:solidFill>
              </a:rPr>
              <a:t>가치”입니다</a:t>
            </a:r>
            <a:r>
              <a:rPr sz="2850" b="1">
                <a:solidFill>
                  <a:srgbClr val="18231D"/>
                </a:solidFill>
              </a:rPr>
              <a:t>.</a:t>
            </a:r>
          </a:p>
        </p:txBody>
      </p:sp>
      <p:sp>
        <p:nvSpPr>
          <p:cNvPr id="3" name="사각형: 둥근 모서리 2">
            <a:extLst xmlns:a="http://schemas.openxmlformats.org/drawingml/2006/main">
              <a:ext uri="{FF2B5EF4-FFF2-40B4-BE49-F238E27FC236}">
                <a16:creationId xmlns:a16="http://schemas.microsoft.com/office/drawing/2014/main" id="{EC08AC36-F682-4A56-B169-265A8046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C4B36"/>
          </a:solidFill>
          <a:ln xmlns:a="http://schemas.openxmlformats.org/drawingml/2006/main" w="0">
            <a:solidFill>
              <a:srgbClr val="1C4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9A808467-470E-494F-A0A7-93D9431E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1. 키워드 입력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99EF971C-FFA5-4B17-80AD-C477F1A8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E9D1"/>
                </a:solidFill>
              </a:defRPr>
            </a:pPr>
            <a:r>
              <a:rPr sz="1125" b="0">
                <a:solidFill>
                  <a:srgbClr val="D8E9D1"/>
                </a:solidFill>
              </a:rPr>
              <a:t>검색 완료율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1BDF29C2-D805-4EAD-BFC7-044509B0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19325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0B297C0-A1BC-4926-BEB8-086AAE52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8231D"/>
                </a:solidFill>
              </a:defRPr>
            </a:pPr>
            <a:r>
              <a:rPr sz="1500" b="1">
                <a:solidFill>
                  <a:srgbClr val="18231D"/>
                </a:solidFill>
              </a:rPr>
              <a:t>2. 지도·추천 결과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D3AA47CA-A899-49FB-9312-9F37BF57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52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37168"/>
                </a:solidFill>
              </a:defRPr>
            </a:pPr>
            <a:r>
              <a:rPr sz="1125" b="0">
                <a:solidFill>
                  <a:srgbClr val="637168"/>
                </a:solidFill>
              </a:rPr>
              <a:t>카드 클릭률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6C9C43BD-BAA2-467C-98B6-83A83F85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19325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A323DC5D-32E9-4CFB-93B5-B9914965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8231D"/>
                </a:solidFill>
              </a:defRPr>
            </a:pPr>
            <a:r>
              <a:rPr sz="1500" b="1">
                <a:solidFill>
                  <a:srgbClr val="18231D"/>
                </a:solidFill>
              </a:rPr>
              <a:t>3. 상세 근거 확인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844DE3DE-DFBB-45D1-BEE5-160F1B1A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37168"/>
                </a:solidFill>
              </a:defRPr>
            </a:pPr>
            <a:r>
              <a:rPr sz="1125" b="0">
                <a:solidFill>
                  <a:srgbClr val="637168"/>
                </a:solidFill>
              </a:rPr>
              <a:t>상세 진입률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F4E57BAC-003A-44D2-80D7-8672CF2B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90750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5A5B1574-A200-401F-8EC0-59BD5331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8231D"/>
                </a:solidFill>
              </a:defRPr>
            </a:pPr>
            <a:r>
              <a:rPr sz="1500" b="1">
                <a:solidFill>
                  <a:srgbClr val="18231D"/>
                </a:solidFill>
              </a:rPr>
              <a:t>4. 저장·공유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83444105-6220-4DE1-B226-7C1577B5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52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37168"/>
                </a:solidFill>
              </a:defRPr>
            </a:pPr>
            <a:r>
              <a:rPr sz="1125" b="0">
                <a:solidFill>
                  <a:srgbClr val="637168"/>
                </a:solidFill>
              </a:rPr>
              <a:t>저장·공유율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819BF65C-58D1-49F5-A98C-324F671B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150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231D"/>
                </a:solidFill>
              </a:defRPr>
            </a:pPr>
            <a:r>
              <a:rPr sz="1800" b="1">
                <a:solidFill>
                  <a:srgbClr val="18231D"/>
                </a:solidFill>
              </a:rPr>
              <a:t>NEXT </a:t>
            </a:r>
            <a:r>
              <a:rPr sz="1800" b="1">
                <a:solidFill>
                  <a:srgbClr val="18231D"/>
                </a:solidFill>
              </a:rPr>
              <a:t>SPOT은</a:t>
            </a:r>
            <a:r>
              <a:rPr sz="1800" b="1">
                <a:solidFill>
                  <a:srgbClr val="18231D"/>
                </a:solidFill>
              </a:rPr>
              <a:t> </a:t>
            </a:r>
            <a:r>
              <a:rPr sz="1800" b="1">
                <a:solidFill>
                  <a:srgbClr val="18231D"/>
                </a:solidFill>
              </a:rPr>
              <a:t>먼저</a:t>
            </a:r>
            <a:r>
              <a:rPr sz="1800" b="1">
                <a:solidFill>
                  <a:srgbClr val="18231D"/>
                </a:solidFill>
              </a:rPr>
              <a:t> </a:t>
            </a:r>
            <a:r>
              <a:rPr sz="1800" b="1">
                <a:solidFill>
                  <a:srgbClr val="18231D"/>
                </a:solidFill>
              </a:rPr>
              <a:t>개인의</a:t>
            </a:r>
            <a:r>
              <a:rPr sz="1800" b="1">
                <a:solidFill>
                  <a:srgbClr val="18231D"/>
                </a:solidFill>
              </a:rPr>
              <a:t> </a:t>
            </a:r>
            <a:r>
              <a:rPr sz="1800" b="1">
                <a:solidFill>
                  <a:srgbClr val="18231D"/>
                </a:solidFill>
              </a:rPr>
              <a:t>다음</a:t>
            </a:r>
            <a:r>
              <a:rPr sz="1800" b="1">
                <a:solidFill>
                  <a:srgbClr val="18231D"/>
                </a:solidFill>
              </a:rPr>
              <a:t> </a:t>
            </a:r>
            <a:r>
              <a:rPr sz="1800" b="1">
                <a:solidFill>
                  <a:srgbClr val="18231D"/>
                </a:solidFill>
              </a:rPr>
              <a:t>동네</a:t>
            </a:r>
            <a:r>
              <a:rPr sz="1800" b="1">
                <a:solidFill>
                  <a:srgbClr val="18231D"/>
                </a:solidFill>
              </a:rPr>
              <a:t> </a:t>
            </a:r>
            <a:r>
              <a:rPr sz="1800" b="1">
                <a:solidFill>
                  <a:srgbClr val="18231D"/>
                </a:solidFill>
              </a:rPr>
              <a:t>발견을</a:t>
            </a:r>
            <a:r>
              <a:rPr sz="1800" b="1">
                <a:solidFill>
                  <a:srgbClr val="18231D"/>
                </a:solidFill>
              </a:rPr>
              <a:t> </a:t>
            </a:r>
            <a:r>
              <a:rPr sz="1800" b="1">
                <a:solidFill>
                  <a:srgbClr val="18231D"/>
                </a:solidFill>
              </a:rPr>
              <a:t>무료로</a:t>
            </a:r>
            <a:r>
              <a:rPr sz="1800" b="1">
                <a:solidFill>
                  <a:srgbClr val="18231D"/>
                </a:solidFill>
              </a:rPr>
              <a:t> </a:t>
            </a:r>
            <a:r>
              <a:rPr sz="1800" b="1">
                <a:solidFill>
                  <a:srgbClr val="18231D"/>
                </a:solidFill>
              </a:rPr>
              <a:t>해결하고</a:t>
            </a:r>
            <a:r>
              <a:rPr sz="1800" b="1">
                <a:solidFill>
                  <a:srgbClr val="18231D"/>
                </a:solidFill>
              </a:rPr>
              <a:t>, </a:t>
            </a:r>
            <a:r>
              <a:rPr sz="1800" b="1">
                <a:solidFill>
                  <a:srgbClr val="18231D"/>
                </a:solidFill>
              </a:rPr>
              <a:t>이후</a:t>
            </a:r>
            <a:r>
              <a:rPr sz="1800" b="1">
                <a:solidFill>
                  <a:srgbClr val="18231D"/>
                </a:solidFill>
              </a:rPr>
              <a:t> </a:t>
            </a:r>
            <a:r>
              <a:rPr sz="1800" b="1">
                <a:solidFill>
                  <a:srgbClr val="18231D"/>
                </a:solidFill>
              </a:rPr>
              <a:t>출점</a:t>
            </a:r>
            <a:r>
              <a:rPr sz="1800" b="1">
                <a:solidFill>
                  <a:srgbClr val="18231D"/>
                </a:solidFill>
              </a:rPr>
              <a:t> </a:t>
            </a:r>
            <a:r>
              <a:rPr sz="1800" b="1">
                <a:solidFill>
                  <a:srgbClr val="18231D"/>
                </a:solidFill>
              </a:rPr>
              <a:t>의사결정</a:t>
            </a:r>
            <a:r>
              <a:rPr sz="1800" b="1">
                <a:solidFill>
                  <a:srgbClr val="18231D"/>
                </a:solidFill>
              </a:rPr>
              <a:t> </a:t>
            </a:r>
            <a:r>
              <a:rPr sz="1800" b="1">
                <a:solidFill>
                  <a:srgbClr val="18231D"/>
                </a:solidFill>
              </a:rPr>
              <a:t>데이터로</a:t>
            </a:r>
            <a:r>
              <a:rPr sz="1800" b="1">
                <a:solidFill>
                  <a:srgbClr val="18231D"/>
                </a:solidFill>
              </a:rPr>
              <a:t> </a:t>
            </a:r>
            <a:r>
              <a:rPr sz="1800" b="1">
                <a:solidFill>
                  <a:srgbClr val="18231D"/>
                </a:solidFill>
              </a:rPr>
              <a:t>확장합니다</a:t>
            </a:r>
            <a:r>
              <a:rPr sz="1800" b="1">
                <a:solidFill>
                  <a:srgbClr val="18231D"/>
                </a:solidFill>
              </a:rPr>
              <a:t>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3EE927AD-EEEA-4AD8-81BF-34412635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7</a:t>
            </a:r>
          </a:p>
        </p:txBody>
      </p:sp>
    </p:spTree>
    <p:extLst>
      <p:ext uri="{BB962C8B-B14F-4D97-AF65-F5344CB8AC3E}">
        <p14:creationId xmlns:p14="http://schemas.microsoft.com/office/powerpoint/2010/main" val="17529326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0B6755-95FA-43BC-AC1A-DF20A8DD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D513A"/>
                </a:solidFill>
              </a:defRPr>
            </a:pPr>
            <a:r>
              <a:rPr sz="900" b="1">
                <a:solidFill>
                  <a:srgbClr val="1D513A"/>
                </a:solidFill>
              </a:rPr>
              <a:t>07 · TRUSTED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B20D4-9B02-4423-86AC-A6C50E93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29"/>
                </a:solidFill>
              </a:defRPr>
            </a:pPr>
            <a:r>
              <a:rPr sz="2325" b="1">
                <a:solidFill>
                  <a:srgbClr val="173629"/>
                </a:solidFill>
              </a:rPr>
              <a:t>왜 서울시 공공통계를 함께 봤을까요?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9143F-C733-4355-971E-34688287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36A"/>
                </a:solidFill>
              </a:defRPr>
            </a:pPr>
            <a:r>
              <a:rPr sz="750" b="0">
                <a:solidFill>
                  <a:srgbClr val="64736A"/>
                </a:solidFill>
              </a:rPr>
              <a:t>NEXT SPOT · MAWD Challenge MVP ·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D91BD-AB10-40A6-B579-CE238367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36A"/>
                </a:solidFill>
              </a:defRPr>
            </a:pPr>
            <a:r>
              <a:rPr sz="1425" b="0">
                <a:solidFill>
                  <a:srgbClr val="64736A"/>
                </a:solidFill>
              </a:rPr>
              <a:t>인터넷 설치만으로 지역 변화를 단정하지 않기 위해, 서로 다른 공식 신호를 교차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8BB68-75A1-48FF-AA4B-5A56DA03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2385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7F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D46E5-3658-4412-86FF-01117F21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513A"/>
                </a:solidFill>
              </a:defRPr>
            </a:pPr>
            <a:r>
              <a:rPr sz="1200" b="1">
                <a:solidFill>
                  <a:srgbClr val="1D513A"/>
                </a:solidFill>
              </a:rPr>
              <a:t>공식성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7AAEA-FEA2-4CC8-98DC-92C37C42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29"/>
                </a:solidFill>
              </a:defRPr>
            </a:pPr>
            <a:r>
              <a:rPr sz="1725" b="1">
                <a:solidFill>
                  <a:srgbClr val="173629"/>
                </a:solidFill>
              </a:rPr>
              <a:t>서울시·국토교통부 기반 공개 통계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657AC-CF5D-4A7F-BD61-30B27134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36A"/>
                </a:solidFill>
              </a:defRPr>
            </a:pPr>
            <a:r>
              <a:rPr sz="1125" b="0">
                <a:solidFill>
                  <a:srgbClr val="64736A"/>
                </a:solidFill>
              </a:rPr>
              <a:t>공공기관이 동일 기준으로 수집·공개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FEEF4-98B0-4204-A7BE-DA7327BE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32385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1D5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FBE54-106C-48E4-95E7-10261D20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BE6BE"/>
                </a:solidFill>
              </a:defRPr>
            </a:pPr>
            <a:r>
              <a:rPr sz="1200" b="1">
                <a:solidFill>
                  <a:srgbClr val="CBE6BE"/>
                </a:solidFill>
              </a:rPr>
              <a:t>교차검증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492F0-03E5-4F2A-9465-C3AA23B8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03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주거·거래·상권 신호를 함께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13055-1BF7-415A-B2D4-3B95FF78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338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2F0DB"/>
                </a:solidFill>
              </a:defRPr>
            </a:pPr>
            <a:r>
              <a:rPr sz="1125" b="0">
                <a:solidFill>
                  <a:srgbClr val="E2F0DB"/>
                </a:solidFill>
              </a:rPr>
              <a:t>한 가지 지표의 오해 가능성을 낮춤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02BF5-E605-4B51-B6C0-847104FE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33625"/>
            <a:ext cx="3238500" cy="2047875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7F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63156-62CA-4CDA-979D-95660A15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D513A"/>
                </a:solidFill>
              </a:defRPr>
            </a:pPr>
            <a:r>
              <a:rPr sz="1200" b="1">
                <a:solidFill>
                  <a:srgbClr val="1D513A"/>
                </a:solidFill>
              </a:rPr>
              <a:t>투명성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3A037-A0FC-497F-8E6C-1BB0492F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03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29"/>
                </a:solidFill>
              </a:defRPr>
            </a:pPr>
            <a:r>
              <a:rPr sz="1725" b="1">
                <a:solidFill>
                  <a:srgbClr val="173629"/>
                </a:solidFill>
              </a:rPr>
              <a:t>기준일·공간단위·한계를 함께 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101D4-0B29-48A2-B2B3-2F2A8368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36A"/>
                </a:solidFill>
              </a:defRPr>
            </a:pPr>
            <a:r>
              <a:rPr sz="1125" b="0">
                <a:solidFill>
                  <a:srgbClr val="64736A"/>
                </a:solidFill>
              </a:rPr>
              <a:t>예측이 아니라 관찰 근거로 설명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63DD9-5641-4DF2-85B6-EE480BC9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67827"/>
                </a:solidFill>
              </a:defRPr>
            </a:pPr>
            <a:r>
              <a:rPr sz="1275" b="1">
                <a:solidFill>
                  <a:srgbClr val="C67827"/>
                </a:solidFill>
              </a:rPr>
              <a:t>핵심 원칙  ·  “공공통계 = 정답”이 아니라, 데이터 해석의 신뢰 기준을 높이는 보조 근거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6770E-5B8B-4C2C-887A-7DBFD3E8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36A"/>
                </a:solidFill>
              </a:defRPr>
            </a:pPr>
            <a:r>
              <a:rPr sz="750" b="0">
                <a:solidFill>
                  <a:srgbClr val="64736A"/>
                </a:solidFill>
              </a:rPr>
              <a:t>[Sources] 서울부동산정보광장 민간 미분양·상업/업무용 실거래 조회 페이지</a:t>
            </a:r>
          </a:p>
        </p:txBody>
      </p:sp>
    </p:spTree>
    <p:extLst>
      <p:ext uri="{BB962C8B-B14F-4D97-AF65-F5344CB8AC3E}">
        <p14:creationId xmlns:p14="http://schemas.microsoft.com/office/powerpoint/2010/main" val="757375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0B76AF-8A26-4CD1-AC16-61D05BCA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D513A"/>
                </a:solidFill>
              </a:defRPr>
            </a:pPr>
            <a:r>
              <a:rPr sz="900" b="1">
                <a:solidFill>
                  <a:srgbClr val="1D513A"/>
                </a:solidFill>
              </a:rPr>
              <a:t>08 · PUBLIC DATA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540E5-6E33-49E8-859F-59E15FC2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29"/>
                </a:solidFill>
              </a:defRPr>
            </a:pPr>
            <a:r>
              <a:rPr sz="2325" b="1">
                <a:solidFill>
                  <a:srgbClr val="173629"/>
                </a:solidFill>
              </a:rPr>
              <a:t>NEXT SPOT은 서로 다른 지역 신호를 한 화면에서 연결합니다.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B63B5-B4ED-4004-8C13-B83B0C0A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36A"/>
                </a:solidFill>
              </a:defRPr>
            </a:pPr>
            <a:r>
              <a:rPr sz="750" b="0">
                <a:solidFill>
                  <a:srgbClr val="64736A"/>
                </a:solidFill>
              </a:rPr>
              <a:t>NEXT SPOT · MAWD Challenge MVP ·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1C21D-9184-463D-9CD7-F2B1EC75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3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ECBFF-40D3-4C30-9120-056123D4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513A"/>
                </a:solidFill>
              </a:defRPr>
            </a:pPr>
            <a:r>
              <a:rPr sz="1125" b="1">
                <a:solidFill>
                  <a:srgbClr val="1D513A"/>
                </a:solidFill>
              </a:rPr>
              <a:t>주거 안정성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CC48A-DBD7-4FC9-867A-2A3AB53A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29"/>
                </a:solidFill>
              </a:defRPr>
            </a:pPr>
            <a:r>
              <a:rPr sz="1800" b="1">
                <a:solidFill>
                  <a:srgbClr val="173629"/>
                </a:solidFill>
              </a:rPr>
              <a:t>민간 미분양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776FD-F50B-41CC-94B1-72133937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67827"/>
                </a:solidFill>
              </a:defRPr>
            </a:pPr>
            <a:r>
              <a:rPr sz="1050" b="1">
                <a:solidFill>
                  <a:srgbClr val="C67827"/>
                </a:solidFill>
              </a:rPr>
              <a:t>자치구 · 2026.06.30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47DA6-FE39-44F0-B776-28E2730F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36A"/>
                </a:solidFill>
              </a:defRPr>
            </a:pPr>
            <a:r>
              <a:rPr sz="1125" b="0">
                <a:solidFill>
                  <a:srgbClr val="64736A"/>
                </a:solidFill>
              </a:rPr>
              <a:t>지역의 주거 수요를 해석하는 보조 신호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44F5A-E0E4-4820-AF82-476E3669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23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18F78-9F2D-4BDE-8103-EAE32793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764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513A"/>
                </a:solidFill>
              </a:defRPr>
            </a:pPr>
            <a:r>
              <a:rPr sz="1125" b="1">
                <a:solidFill>
                  <a:srgbClr val="1D513A"/>
                </a:solidFill>
              </a:rPr>
              <a:t>상권 활동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D4E15-E940-43D3-9B63-55B98239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46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29"/>
                </a:solidFill>
              </a:defRPr>
            </a:pPr>
            <a:r>
              <a:rPr sz="1800" b="1">
                <a:solidFill>
                  <a:srgbClr val="173629"/>
                </a:solidFill>
              </a:rPr>
              <a:t>상업·업무용 거래 활동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073AF-2BDB-4A87-A149-57CBCEB8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67827"/>
                </a:solidFill>
              </a:defRPr>
            </a:pPr>
            <a:r>
              <a:rPr sz="1050" b="1">
                <a:solidFill>
                  <a:srgbClr val="C67827"/>
                </a:solidFill>
              </a:rPr>
              <a:t>자치구 · 2026년 3분기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7CA4F-CB83-479B-8099-ECE983A0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36A"/>
                </a:solidFill>
              </a:defRPr>
            </a:pPr>
            <a:r>
              <a:rPr sz="1125" b="0">
                <a:solidFill>
                  <a:srgbClr val="64736A"/>
                </a:solidFill>
              </a:rPr>
              <a:t>거래금액이 아닌 조회 행 수 기반 참고 지표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C6AF1-C56A-46FF-A2E1-A4E19E4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323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EA201-B210-4305-84FD-B16EC8A1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513A"/>
                </a:solidFill>
              </a:defRPr>
            </a:pPr>
            <a:r>
              <a:rPr sz="1125" b="1">
                <a:solidFill>
                  <a:srgbClr val="1D513A"/>
                </a:solidFill>
              </a:rPr>
              <a:t>생활 변화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21F3B-C844-4FD7-80DC-CDD359EF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1460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29"/>
                </a:solidFill>
              </a:defRPr>
            </a:pPr>
            <a:r>
              <a:rPr sz="1800" b="1">
                <a:solidFill>
                  <a:srgbClr val="173629"/>
                </a:solidFill>
              </a:rPr>
              <a:t>인터넷·인구·세대·입주·생활인구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9C2A7-D0CF-4DF8-A719-F8816DAF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3850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67827"/>
                </a:solidFill>
              </a:defRPr>
            </a:pPr>
            <a:r>
              <a:rPr sz="1050" b="1">
                <a:solidFill>
                  <a:srgbClr val="C67827"/>
                </a:solidFill>
              </a:rPr>
              <a:t>가상 동네 × 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8FA23-0ED0-4C27-B00A-A78EAE8D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36A"/>
                </a:solidFill>
              </a:defRPr>
            </a:pPr>
            <a:r>
              <a:rPr sz="1125" b="0">
                <a:solidFill>
                  <a:srgbClr val="64736A"/>
                </a:solidFill>
              </a:rPr>
              <a:t>MVP 점수의 핵심 변화 신호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D774D-BE70-4AE4-9CBF-AEBD84E9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29"/>
                </a:solidFill>
              </a:defRPr>
            </a:pPr>
            <a:r>
              <a:rPr sz="1350" b="1">
                <a:solidFill>
                  <a:srgbClr val="173629"/>
                </a:solidFill>
              </a:rPr>
              <a:t>공간 단위가 자치구로 제한될 때는 동네 단위의 사실처럼 확대 해석하지 않습니다.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29F68-10BA-4487-A017-3E3BC2D4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36A"/>
                </a:solidFill>
              </a:defRPr>
            </a:pPr>
            <a:r>
              <a:rPr sz="750" b="0">
                <a:solidFill>
                  <a:srgbClr val="64736A"/>
                </a:solidFill>
              </a:rPr>
              <a:t>[Sources] 서울부동산정보광장(land.seoul.go.kr) · 데이터 기준일과 단위는 화면에 명시</a:t>
            </a:r>
          </a:p>
        </p:txBody>
      </p:sp>
    </p:spTree>
    <p:extLst>
      <p:ext uri="{BB962C8B-B14F-4D97-AF65-F5344CB8AC3E}">
        <p14:creationId xmlns:p14="http://schemas.microsoft.com/office/powerpoint/2010/main" val="2028483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23829F-0939-419E-B7AC-6B5CC824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D513A"/>
                </a:solidFill>
              </a:defRPr>
            </a:pPr>
            <a:r>
              <a:rPr sz="900" b="1">
                <a:solidFill>
                  <a:srgbClr val="1D513A"/>
                </a:solidFill>
              </a:rPr>
              <a:t>09 · HONEST PRODUCT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07A4A-D505-4C17-94DE-6B68915E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29"/>
                </a:solidFill>
              </a:defRPr>
            </a:pPr>
            <a:r>
              <a:rPr sz="2325" b="1">
                <a:solidFill>
                  <a:srgbClr val="173629"/>
                </a:solidFill>
              </a:rPr>
              <a:t>신뢰도는 점수를 높이는 것이 아니라, 근거와 한계를 함께 보여주는 방식으로 만듭니다.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D52CA-236A-4D87-AC82-543887D7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36A"/>
                </a:solidFill>
              </a:defRPr>
            </a:pPr>
            <a:r>
              <a:rPr sz="750" b="0">
                <a:solidFill>
                  <a:srgbClr val="64736A"/>
                </a:solidFill>
              </a:rPr>
              <a:t>NEXT SPOT · MAWD Challenge MVP ·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E7EB4-84CA-48A4-A9DF-87F14CA6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33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EE65B-CFD0-46AE-93A6-87F6865B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513A"/>
                </a:solidFill>
              </a:defRPr>
            </a:pPr>
            <a:r>
              <a:rPr sz="1050" b="1">
                <a:solidFill>
                  <a:srgbClr val="1D513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BBD83-E648-491C-8A24-87963677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29"/>
                </a:solidFill>
              </a:defRPr>
            </a:pPr>
            <a:r>
              <a:rPr sz="1650" b="1">
                <a:solidFill>
                  <a:srgbClr val="173629"/>
                </a:solidFill>
              </a:rPr>
              <a:t>신호 수집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63CD5-5F42-4F26-9F29-7A592FE7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36A"/>
                </a:solidFill>
              </a:defRPr>
            </a:pPr>
            <a:r>
              <a:rPr sz="1050" b="0">
                <a:solidFill>
                  <a:srgbClr val="64736A"/>
                </a:solidFill>
              </a:rPr>
              <a:t>아정당·공공데이터를 지역×월로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C57B2-9679-4B2F-BE6F-3462990E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333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C82EC-C7EB-4EFC-8C37-A18A285D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24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513A"/>
                </a:solidFill>
              </a:defRPr>
            </a:pPr>
            <a:r>
              <a:rPr sz="1050" b="1">
                <a:solidFill>
                  <a:srgbClr val="1D513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8ED44-9096-4FF4-BD3D-5BA36592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241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29"/>
                </a:solidFill>
              </a:defRPr>
            </a:pPr>
            <a:r>
              <a:rPr sz="1650" b="1">
                <a:solidFill>
                  <a:srgbClr val="173629"/>
                </a:solidFill>
              </a:rPr>
              <a:t>교차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ECB65-B773-49A6-B08D-09C93ABD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38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36A"/>
                </a:solidFill>
              </a:defRPr>
            </a:pPr>
            <a:r>
              <a:rPr sz="1050" b="0">
                <a:solidFill>
                  <a:srgbClr val="64736A"/>
                </a:solidFill>
              </a:rPr>
              <a:t>주거·거래·상권 변화를 함께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E1A05-B3F0-4803-BD9E-2EC573BF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2333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D5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49665-E749-46AC-8EE8-7AC807F5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BE6BE"/>
                </a:solidFill>
              </a:defRPr>
            </a:pPr>
            <a:r>
              <a:rPr sz="1050" b="1">
                <a:solidFill>
                  <a:srgbClr val="CBE6BE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90896-EA00-4029-89FA-EF81B1CC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설명 점수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87464-D7B3-4D5E-897F-1E1C1518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38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2F0DB"/>
                </a:solidFill>
              </a:defRPr>
            </a:pPr>
            <a:r>
              <a:rPr sz="1050" b="0">
                <a:solidFill>
                  <a:srgbClr val="E2F0DB"/>
                </a:solidFill>
              </a:rPr>
              <a:t>고정 가중치 휴리스틱으로 후보화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4FCF4-2FE3-40F7-B538-ECB33B4E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095500"/>
            <a:ext cx="2333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C4C4F-2A92-4F10-8956-73E8B8A2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324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D513A"/>
                </a:solidFill>
              </a:defRPr>
            </a:pPr>
            <a:r>
              <a:rPr sz="1050" b="1">
                <a:solidFill>
                  <a:srgbClr val="1D513A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CEEB0-EAF4-4E3C-92AE-B262A754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7241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29"/>
                </a:solidFill>
              </a:defRPr>
            </a:pPr>
            <a:r>
              <a:rPr sz="1650" b="1">
                <a:solidFill>
                  <a:srgbClr val="173629"/>
                </a:solidFill>
              </a:rPr>
              <a:t>한계 표시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584A6-967B-40EE-9368-5809F96E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38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36A"/>
                </a:solidFill>
              </a:defRPr>
            </a:pPr>
            <a:r>
              <a:rPr sz="1050" b="0">
                <a:solidFill>
                  <a:srgbClr val="64736A"/>
                </a:solidFill>
              </a:rPr>
              <a:t>mock·참고 통계·불확실성을 명시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17573-815F-4D76-B11A-232227C1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096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BEBF0-D419-41C2-9E23-86241F0D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67827"/>
                </a:solidFill>
              </a:defRPr>
            </a:pPr>
            <a:r>
              <a:rPr sz="1500" b="1">
                <a:solidFill>
                  <a:srgbClr val="C67827"/>
                </a:solidFill>
              </a:rPr>
              <a:t>NEXT SPOT은 “여기가 확실한 핫플”이라고 말하지 않습니다.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23F0C-8FFC-433D-8144-AEF585AE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29"/>
                </a:solidFill>
              </a:defRPr>
            </a:pPr>
            <a:r>
              <a:rPr sz="1275" b="1">
                <a:solidFill>
                  <a:srgbClr val="173629"/>
                </a:solidFill>
              </a:rPr>
              <a:t>“변화 신호가 관찰되며, 아직 과밀하지 않은 후보”라고 말합니다.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E139A-BB65-49B8-8C2E-43209CF3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736A"/>
                </a:solidFill>
              </a:defRPr>
            </a:pPr>
            <a:r>
              <a:rPr sz="750" b="0">
                <a:solidFill>
                  <a:srgbClr val="64736A"/>
                </a:solidFill>
              </a:rPr>
              <a:t>[Sources] 서비스 내 데이터 출처·기준일·불확실성 안내 문구와 동일한 원칙</a:t>
            </a:r>
          </a:p>
        </p:txBody>
      </p:sp>
    </p:spTree>
    <p:extLst>
      <p:ext uri="{BB962C8B-B14F-4D97-AF65-F5344CB8AC3E}">
        <p14:creationId xmlns:p14="http://schemas.microsoft.com/office/powerpoint/2010/main" val="883691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2026-08-18T14:14:22.3850000Z</dcterms:created>
  <dcterms:modified xsi:type="dcterms:W3CDTF">2026-08-18T14:14:22.3850000Z</dcterms:modified>
</coreProperties>
</file>