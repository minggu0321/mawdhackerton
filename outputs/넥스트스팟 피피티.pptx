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4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C3A9C4-3C44-43FE-BD03-EFC94E1326CA}"/>
              </a:ext>
            </a:extLst>
          </p:cNvPr>
          <p:cNvSpPr>
            <a:spLocks noGrp="1"/>
          </p:cNvSpPr>
          <p:nvPr/>
        </p:nvSpPr>
        <p:spPr>
          <a:xfrm>
            <a:off x="762000" y="8191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DCECC9"/>
                </a:solidFill>
              </a:defRPr>
            </a:pPr>
            <a:r>
              <a:rPr sz="1500" b="1">
                <a:solidFill>
                  <a:srgbClr val="DCECC9"/>
                </a:solidFill>
              </a:rPr>
              <a:t>NEXT SPOT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A772088-0078-47B5-A7E0-B96451FBDB93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9048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“서울은 너무 붐비고…</a:t>
            </a:r>
          </a:p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새로운 곳은 어디 없을까?”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B3D82B-C175-458B-B870-82FEFD63D835}"/>
              </a:ext>
            </a:extLst>
          </p:cNvPr>
          <p:cNvSpPr>
            <a:spLocks noGrp="1"/>
          </p:cNvSpPr>
          <p:nvPr/>
        </p:nvSpPr>
        <p:spPr>
          <a:xfrm>
            <a:off x="800100" y="352425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C9DDCC"/>
                </a:solidFill>
              </a:defRPr>
            </a:pPr>
            <a:r>
              <a:rPr sz="1650" b="0">
                <a:solidFill>
                  <a:srgbClr val="C9DDCC"/>
                </a:solidFill>
              </a:rPr>
              <a:t>퇴근 후 혼자 쉬고 싶은 날, 주말에 조용한 데이트를 하고 싶은 날</a:t>
            </a:r>
          </a:p>
          <a:p>
            <a:pPr>
              <a:defRPr sz="1650" b="0">
                <a:solidFill>
                  <a:srgbClr val="C9DDCC"/>
                </a:solidFill>
              </a:defRPr>
            </a:pPr>
            <a:r>
              <a:rPr sz="1650" b="0">
                <a:solidFill>
                  <a:srgbClr val="C9DDCC"/>
                </a:solidFill>
              </a:rPr>
              <a:t>우리는 이미 유명해진 핫플 말고 아직 과밀하지 않은 동네를 찾습니다.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335E59-F5EF-467B-A295-7203D8073DF5}"/>
              </a:ext>
            </a:extLst>
          </p:cNvPr>
          <p:cNvSpPr>
            <a:spLocks noGrp="1"/>
          </p:cNvSpPr>
          <p:nvPr/>
        </p:nvSpPr>
        <p:spPr>
          <a:xfrm>
            <a:off x="800100" y="54292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DCECC9"/>
                </a:solidFill>
              </a:defRPr>
            </a:pPr>
            <a:r>
              <a:rPr sz="1350" b="1">
                <a:solidFill>
                  <a:srgbClr val="DCECC9"/>
                </a:solidFill>
              </a:rPr>
              <a:t>그 질문에서 NEXT SPOT이 시작됐습니다.</a:t>
            </a:r>
          </a:p>
        </p:txBody>
      </p:sp>
    </p:spTree>
    <p:extLst>
      <p:ext uri="{BB962C8B-B14F-4D97-AF65-F5344CB8AC3E}">
        <p14:creationId xmlns:p14="http://schemas.microsoft.com/office/powerpoint/2010/main" val="97032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FAC00082-730D-4615-85A5-7D99F68A5DF1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57925B"/>
                </a:solidFill>
              </a:defRPr>
            </a:pPr>
            <a:r>
              <a:rPr sz="1050" b="1">
                <a:solidFill>
                  <a:srgbClr val="57925B"/>
                </a:solidFill>
              </a:rPr>
              <a:t>01 · USER SCENARIO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FDFA36-1E59-4C39-BC9F-F8255CD8D3E0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 err="1">
                <a:solidFill>
                  <a:srgbClr val="18231D"/>
                </a:solidFill>
              </a:rPr>
              <a:t>사용자의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진짜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질문은</a:t>
            </a:r>
            <a:r>
              <a:rPr sz="2850" b="1" dirty="0">
                <a:solidFill>
                  <a:srgbClr val="18231D"/>
                </a:solidFill>
              </a:rPr>
              <a:t> “</a:t>
            </a:r>
            <a:r>
              <a:rPr sz="2850" b="1" dirty="0" err="1">
                <a:solidFill>
                  <a:srgbClr val="18231D"/>
                </a:solidFill>
              </a:rPr>
              <a:t>어디가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유명해</a:t>
            </a:r>
            <a:r>
              <a:rPr sz="2850" b="1" dirty="0">
                <a:solidFill>
                  <a:srgbClr val="18231D"/>
                </a:solidFill>
              </a:rPr>
              <a:t>?”가 </a:t>
            </a:r>
            <a:r>
              <a:rPr sz="2850" b="1" dirty="0" err="1">
                <a:solidFill>
                  <a:srgbClr val="18231D"/>
                </a:solidFill>
              </a:rPr>
              <a:t>아니라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endParaRPr lang="en-US" sz="2850" b="1" dirty="0">
              <a:solidFill>
                <a:srgbClr val="18231D"/>
              </a:solidFill>
            </a:endParaRPr>
          </a:p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>
                <a:solidFill>
                  <a:srgbClr val="18231D"/>
                </a:solidFill>
              </a:rPr>
              <a:t>“</a:t>
            </a:r>
            <a:r>
              <a:rPr sz="2850" b="1" dirty="0" err="1">
                <a:solidFill>
                  <a:srgbClr val="18231D"/>
                </a:solidFill>
              </a:rPr>
              <a:t>어디가</a:t>
            </a:r>
            <a:r>
              <a:rPr sz="2850" b="1" dirty="0">
                <a:solidFill>
                  <a:srgbClr val="18231D"/>
                </a:solidFill>
              </a:rPr>
              <a:t> 곧 </a:t>
            </a:r>
            <a:r>
              <a:rPr sz="2850" b="1" dirty="0" err="1">
                <a:solidFill>
                  <a:srgbClr val="18231D"/>
                </a:solidFill>
              </a:rPr>
              <a:t>좋아질까</a:t>
            </a:r>
            <a:r>
              <a:rPr sz="2850" b="1" dirty="0">
                <a:solidFill>
                  <a:srgbClr val="18231D"/>
                </a:solidFill>
              </a:rPr>
              <a:t>?”</a:t>
            </a:r>
            <a:r>
              <a:rPr sz="2850" b="1" dirty="0" err="1">
                <a:solidFill>
                  <a:srgbClr val="18231D"/>
                </a:solidFill>
              </a:rPr>
              <a:t>입니다</a:t>
            </a:r>
            <a:r>
              <a:rPr sz="2850" b="1" dirty="0">
                <a:solidFill>
                  <a:srgbClr val="18231D"/>
                </a:solidFill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83764F-6E43-47F9-9607-0CA88C0B2D4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18231D"/>
                </a:solidFill>
              </a:defRPr>
            </a:pPr>
            <a:r>
              <a:rPr sz="1800" b="0">
                <a:solidFill>
                  <a:srgbClr val="18231D"/>
                </a:solidFill>
              </a:rPr>
              <a:t>퇴근 후, 이미 붐비는 성수·연남 대신 조용하지만 분위기 있는 동네를 찾는다.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898E2D1-6FDD-46B5-BAD3-782272FE6F1F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3238500" cy="1809750"/>
          </a:xfrm>
          <a:prstGeom prst="roundRect">
            <a:avLst>
              <a:gd name="adj" fmla="val 8421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C34ADA-4202-44BC-A570-25DF13DE2E03}"/>
              </a:ext>
            </a:extLst>
          </p:cNvPr>
          <p:cNvSpPr>
            <a:spLocks noGrp="1"/>
          </p:cNvSpPr>
          <p:nvPr/>
        </p:nvSpPr>
        <p:spPr>
          <a:xfrm>
            <a:off x="914400" y="30480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637168"/>
                </a:solidFill>
              </a:defRPr>
            </a:pPr>
            <a:r>
              <a:rPr sz="1350" b="1" dirty="0" err="1">
                <a:solidFill>
                  <a:srgbClr val="637168"/>
                </a:solidFill>
              </a:rPr>
              <a:t>상황</a:t>
            </a:r>
            <a:endParaRPr lang="en-US" sz="1350" b="1" dirty="0">
              <a:solidFill>
                <a:srgbClr val="637168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987BA3-20EE-4230-B63B-61422C0D8EF8}"/>
              </a:ext>
            </a:extLst>
          </p:cNvPr>
          <p:cNvSpPr>
            <a:spLocks noGrp="1"/>
          </p:cNvSpPr>
          <p:nvPr/>
        </p:nvSpPr>
        <p:spPr>
          <a:xfrm>
            <a:off x="914400" y="3571875"/>
            <a:ext cx="2714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8231D"/>
                </a:solidFill>
              </a:defRPr>
            </a:pPr>
            <a:r>
              <a:rPr sz="1725" b="1">
                <a:solidFill>
                  <a:srgbClr val="18231D"/>
                </a:solidFill>
              </a:rPr>
              <a:t>사람은 많고, 대기는 싫다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22A8E6B-D10C-4F5D-9837-84A29C2E831A}"/>
              </a:ext>
            </a:extLst>
          </p:cNvPr>
          <p:cNvSpPr>
            <a:spLocks noGrp="1"/>
          </p:cNvSpPr>
          <p:nvPr/>
        </p:nvSpPr>
        <p:spPr>
          <a:xfrm>
            <a:off x="4352925" y="2762250"/>
            <a:ext cx="3238500" cy="1809750"/>
          </a:xfrm>
          <a:prstGeom prst="roundRect">
            <a:avLst>
              <a:gd name="adj" fmla="val 8421"/>
            </a:avLst>
          </a:prstGeom>
          <a:solidFill>
            <a:srgbClr val="1C4B36"/>
          </a:solidFill>
          <a:ln w="0">
            <a:solidFill>
              <a:srgbClr val="1C4B3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775C9D-67B8-4FD0-94BB-24FC5654340F}"/>
              </a:ext>
            </a:extLst>
          </p:cNvPr>
          <p:cNvSpPr>
            <a:spLocks noGrp="1"/>
          </p:cNvSpPr>
          <p:nvPr/>
        </p:nvSpPr>
        <p:spPr>
          <a:xfrm>
            <a:off x="4581525" y="30480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DCECC9"/>
                </a:solidFill>
              </a:defRPr>
            </a:pPr>
            <a:r>
              <a:rPr sz="1350" b="1">
                <a:solidFill>
                  <a:srgbClr val="DCECC9"/>
                </a:solidFill>
              </a:rPr>
              <a:t>기존 행동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84626E-2CDC-4A95-A1F7-08ABC5746C69}"/>
              </a:ext>
            </a:extLst>
          </p:cNvPr>
          <p:cNvSpPr>
            <a:spLocks noGrp="1"/>
          </p:cNvSpPr>
          <p:nvPr/>
        </p:nvSpPr>
        <p:spPr>
          <a:xfrm>
            <a:off x="4581525" y="3571875"/>
            <a:ext cx="2714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FFFFFF"/>
                </a:solidFill>
              </a:defRPr>
            </a:pPr>
            <a:r>
              <a:rPr sz="1725" b="1" dirty="0" err="1">
                <a:solidFill>
                  <a:srgbClr val="FFFFFF"/>
                </a:solidFill>
              </a:rPr>
              <a:t>인스타그램·지도·AI에</a:t>
            </a:r>
            <a:r>
              <a:rPr sz="1725" b="1" dirty="0">
                <a:solidFill>
                  <a:srgbClr val="FFFFFF"/>
                </a:solidFill>
              </a:rPr>
              <a:t> </a:t>
            </a:r>
            <a:endParaRPr lang="en-US" sz="1725" b="1" dirty="0">
              <a:solidFill>
                <a:srgbClr val="FFFFFF"/>
              </a:solidFill>
            </a:endParaRPr>
          </a:p>
          <a:p>
            <a:pPr>
              <a:defRPr sz="1725" b="1">
                <a:solidFill>
                  <a:srgbClr val="FFFFFF"/>
                </a:solidFill>
              </a:defRPr>
            </a:pPr>
            <a:r>
              <a:rPr sz="1725" b="1" dirty="0" err="1">
                <a:solidFill>
                  <a:srgbClr val="FFFFFF"/>
                </a:solidFill>
              </a:rPr>
              <a:t>검색한다</a:t>
            </a:r>
            <a:endParaRPr sz="1725" b="1" dirty="0">
              <a:solidFill>
                <a:srgbClr val="FFFFFF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357473A-9925-416D-9B7A-0617A9118ADF}"/>
              </a:ext>
            </a:extLst>
          </p:cNvPr>
          <p:cNvSpPr>
            <a:spLocks noGrp="1"/>
          </p:cNvSpPr>
          <p:nvPr/>
        </p:nvSpPr>
        <p:spPr>
          <a:xfrm>
            <a:off x="8020050" y="2762250"/>
            <a:ext cx="3238500" cy="1809750"/>
          </a:xfrm>
          <a:prstGeom prst="roundRect">
            <a:avLst>
              <a:gd name="adj" fmla="val 8421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1EEE55-7D01-43C0-908E-A80087CCCE83}"/>
              </a:ext>
            </a:extLst>
          </p:cNvPr>
          <p:cNvSpPr>
            <a:spLocks noGrp="1"/>
          </p:cNvSpPr>
          <p:nvPr/>
        </p:nvSpPr>
        <p:spPr>
          <a:xfrm>
            <a:off x="8248650" y="30480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637168"/>
                </a:solidFill>
              </a:defRPr>
            </a:pPr>
            <a:r>
              <a:rPr sz="1350" b="1" dirty="0" err="1">
                <a:solidFill>
                  <a:srgbClr val="637168"/>
                </a:solidFill>
              </a:rPr>
              <a:t>남은</a:t>
            </a:r>
            <a:r>
              <a:rPr sz="1350" b="1" dirty="0">
                <a:solidFill>
                  <a:srgbClr val="637168"/>
                </a:solidFill>
              </a:rPr>
              <a:t> </a:t>
            </a:r>
            <a:r>
              <a:rPr lang="en-US" sz="1350" b="1" dirty="0">
                <a:solidFill>
                  <a:srgbClr val="637168"/>
                </a:solidFill>
              </a:rPr>
              <a:t>PAIN</a:t>
            </a:r>
            <a:endParaRPr sz="1350" b="1" dirty="0">
              <a:solidFill>
                <a:srgbClr val="637168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6F725D-AD83-4108-8D5F-9703CACC2E8B}"/>
              </a:ext>
            </a:extLst>
          </p:cNvPr>
          <p:cNvSpPr>
            <a:spLocks noGrp="1"/>
          </p:cNvSpPr>
          <p:nvPr/>
        </p:nvSpPr>
        <p:spPr>
          <a:xfrm>
            <a:off x="8248650" y="3571875"/>
            <a:ext cx="2714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18231D"/>
                </a:solidFill>
              </a:defRPr>
            </a:pPr>
            <a:r>
              <a:rPr sz="1725" b="1">
                <a:solidFill>
                  <a:srgbClr val="18231D"/>
                </a:solidFill>
              </a:rPr>
              <a:t>결과는 이미 유명한 장소 중심이다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08FD1B3-6292-4578-9C4F-056011AB1C2A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 b="0">
                <a:solidFill>
                  <a:srgbClr val="637168"/>
                </a:solidFill>
              </a:defRPr>
            </a:pPr>
            <a:r>
              <a:rPr sz="825" b="0">
                <a:solidFill>
                  <a:srgbClr val="637168"/>
                </a:solidFill>
              </a:rPr>
              <a:t>NEXT SPOT · MAWD Challenge MVP · 2</a:t>
            </a:r>
          </a:p>
        </p:txBody>
      </p:sp>
    </p:spTree>
    <p:extLst>
      <p:ext uri="{BB962C8B-B14F-4D97-AF65-F5344CB8AC3E}">
        <p14:creationId xmlns:p14="http://schemas.microsoft.com/office/powerpoint/2010/main" val="551697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15CFE-4BF4-44E1-A647-D3A6DC0FBEF4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57925B"/>
                </a:solidFill>
              </a:defRPr>
            </a:pPr>
            <a:r>
              <a:rPr sz="1050" b="1">
                <a:solidFill>
                  <a:srgbClr val="57925B"/>
                </a:solidFill>
              </a:rPr>
              <a:t>02 · EXPERIENCE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4F9476E-EA35-4492-B667-8110121E2EA7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 err="1">
                <a:solidFill>
                  <a:srgbClr val="18231D"/>
                </a:solidFill>
              </a:rPr>
              <a:t>키워드를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입력하면</a:t>
            </a:r>
            <a:r>
              <a:rPr sz="2850" b="1" dirty="0">
                <a:solidFill>
                  <a:srgbClr val="18231D"/>
                </a:solidFill>
              </a:rPr>
              <a:t>, </a:t>
            </a:r>
            <a:r>
              <a:rPr sz="2850" b="1" dirty="0" err="1">
                <a:solidFill>
                  <a:srgbClr val="18231D"/>
                </a:solidFill>
              </a:rPr>
              <a:t>지도와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근거가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함께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나옵니다</a:t>
            </a:r>
            <a:r>
              <a:rPr sz="2850" b="1" dirty="0">
                <a:solidFill>
                  <a:srgbClr val="18231D"/>
                </a:solidFill>
              </a:rPr>
              <a:t>.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9227CE1-296F-B879-FB11-0BE607543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4833" y="1409700"/>
            <a:ext cx="8659433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94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DB28B7-86CE-46EF-B9DD-FBFA61731ABB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57925B"/>
                </a:solidFill>
              </a:defRPr>
            </a:pPr>
            <a:r>
              <a:rPr sz="1050" b="1">
                <a:solidFill>
                  <a:srgbClr val="57925B"/>
                </a:solidFill>
              </a:rPr>
              <a:t>03 · DATA LOGIC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B13569-B9D4-442A-9E94-CE1E1C95F822}"/>
              </a:ext>
            </a:extLst>
          </p:cNvPr>
          <p:cNvSpPr>
            <a:spLocks noGrp="1"/>
          </p:cNvSpPr>
          <p:nvPr/>
        </p:nvSpPr>
        <p:spPr>
          <a:xfrm>
            <a:off x="685800" y="755727"/>
            <a:ext cx="11229473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>
                <a:solidFill>
                  <a:srgbClr val="18231D"/>
                </a:solidFill>
              </a:rPr>
              <a:t>NEXT SPOT </a:t>
            </a:r>
            <a:r>
              <a:rPr sz="2850" b="1" dirty="0" err="1">
                <a:solidFill>
                  <a:srgbClr val="18231D"/>
                </a:solidFill>
              </a:rPr>
              <a:t>점수는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예측값이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아니라</a:t>
            </a:r>
            <a:r>
              <a:rPr sz="2850" b="1" dirty="0">
                <a:solidFill>
                  <a:srgbClr val="18231D"/>
                </a:solidFill>
              </a:rPr>
              <a:t>, </a:t>
            </a:r>
            <a:r>
              <a:rPr sz="2850" b="1" dirty="0" err="1">
                <a:solidFill>
                  <a:srgbClr val="18231D"/>
                </a:solidFill>
              </a:rPr>
              <a:t>설명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가능한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신호의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조합입니다</a:t>
            </a:r>
            <a:r>
              <a:rPr sz="2850" b="1" dirty="0">
                <a:solidFill>
                  <a:srgbClr val="18231D"/>
                </a:solidFill>
              </a:rPr>
              <a:t>.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25AFF56-90A4-45E8-8BD8-C8F8D0538667}"/>
              </a:ext>
            </a:extLst>
          </p:cNvPr>
          <p:cNvSpPr>
            <a:spLocks noGrp="1"/>
          </p:cNvSpPr>
          <p:nvPr/>
        </p:nvSpPr>
        <p:spPr>
          <a:xfrm>
            <a:off x="8025292" y="1526507"/>
            <a:ext cx="3238500" cy="1577139"/>
          </a:xfrm>
          <a:prstGeom prst="roundRect">
            <a:avLst>
              <a:gd name="adj" fmla="val 6400"/>
            </a:avLst>
          </a:prstGeom>
          <a:solidFill>
            <a:srgbClr val="1C4B36"/>
          </a:solidFill>
          <a:ln w="0">
            <a:solidFill>
              <a:srgbClr val="1C4B3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889448-533D-4D23-9B55-EFA768B77A08}"/>
              </a:ext>
            </a:extLst>
          </p:cNvPr>
          <p:cNvSpPr>
            <a:spLocks noGrp="1"/>
          </p:cNvSpPr>
          <p:nvPr/>
        </p:nvSpPr>
        <p:spPr>
          <a:xfrm>
            <a:off x="8287230" y="1817771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변화 점수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CA7C70-E054-493B-8576-865BC77A2E8D}"/>
              </a:ext>
            </a:extLst>
          </p:cNvPr>
          <p:cNvSpPr>
            <a:spLocks noGrp="1"/>
          </p:cNvSpPr>
          <p:nvPr/>
        </p:nvSpPr>
        <p:spPr>
          <a:xfrm>
            <a:off x="8287230" y="2436896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D8E9D1"/>
                </a:solidFill>
              </a:defRPr>
            </a:pPr>
            <a:r>
              <a:rPr sz="1350" b="0">
                <a:solidFill>
                  <a:srgbClr val="D8E9D1"/>
                </a:solidFill>
              </a:rPr>
              <a:t>신규 설치 · 인구/세대</a:t>
            </a:r>
          </a:p>
          <a:p>
            <a:pPr>
              <a:defRPr sz="1350" b="0">
                <a:solidFill>
                  <a:srgbClr val="D8E9D1"/>
                </a:solidFill>
              </a:defRPr>
            </a:pPr>
            <a:r>
              <a:rPr sz="1350" b="0">
                <a:solidFill>
                  <a:srgbClr val="D8E9D1"/>
                </a:solidFill>
              </a:rPr>
              <a:t>입주 · 점포 · 문화공간 · 생활인구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FD9D9F3-5133-475C-8E70-02687A025B7E}"/>
              </a:ext>
            </a:extLst>
          </p:cNvPr>
          <p:cNvSpPr>
            <a:spLocks noGrp="1"/>
          </p:cNvSpPr>
          <p:nvPr/>
        </p:nvSpPr>
        <p:spPr>
          <a:xfrm>
            <a:off x="9487380" y="1764632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DCECC9"/>
                </a:solidFill>
              </a:defRPr>
            </a:pPr>
            <a:r>
              <a:rPr sz="1875" b="1" dirty="0">
                <a:solidFill>
                  <a:srgbClr val="DCECC9"/>
                </a:solidFill>
              </a:rPr>
              <a:t>50%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6585CB2-6EA3-4C02-B51E-6F84A53F48E3}"/>
              </a:ext>
            </a:extLst>
          </p:cNvPr>
          <p:cNvSpPr>
            <a:spLocks noGrp="1"/>
          </p:cNvSpPr>
          <p:nvPr/>
        </p:nvSpPr>
        <p:spPr>
          <a:xfrm>
            <a:off x="8025292" y="3225954"/>
            <a:ext cx="3238500" cy="1517483"/>
          </a:xfrm>
          <a:prstGeom prst="roundRect">
            <a:avLst>
              <a:gd name="adj" fmla="val 6400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6D89B2-14DD-4FF1-83BC-3509F3194081}"/>
              </a:ext>
            </a:extLst>
          </p:cNvPr>
          <p:cNvSpPr>
            <a:spLocks noGrp="1"/>
          </p:cNvSpPr>
          <p:nvPr/>
        </p:nvSpPr>
        <p:spPr>
          <a:xfrm>
            <a:off x="8287230" y="3365571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8231D"/>
                </a:solidFill>
              </a:defRPr>
            </a:pPr>
            <a:r>
              <a:rPr sz="1650" b="1" dirty="0" err="1">
                <a:solidFill>
                  <a:srgbClr val="18231D"/>
                </a:solidFill>
              </a:rPr>
              <a:t>발견</a:t>
            </a:r>
            <a:r>
              <a:rPr sz="1650" b="1" dirty="0">
                <a:solidFill>
                  <a:srgbClr val="18231D"/>
                </a:solidFill>
              </a:rPr>
              <a:t> </a:t>
            </a:r>
            <a:r>
              <a:rPr sz="1650" b="1" dirty="0" err="1">
                <a:solidFill>
                  <a:srgbClr val="18231D"/>
                </a:solidFill>
              </a:rPr>
              <a:t>점수</a:t>
            </a:r>
            <a:endParaRPr sz="1650" b="1" dirty="0">
              <a:solidFill>
                <a:srgbClr val="18231D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07F8B6-62BD-423A-B778-B5CBE1BAEAB7}"/>
              </a:ext>
            </a:extLst>
          </p:cNvPr>
          <p:cNvSpPr>
            <a:spLocks noGrp="1"/>
          </p:cNvSpPr>
          <p:nvPr/>
        </p:nvSpPr>
        <p:spPr>
          <a:xfrm>
            <a:off x="8287230" y="3984696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637168"/>
                </a:solidFill>
              </a:defRPr>
            </a:pPr>
            <a:r>
              <a:rPr sz="1350" b="0" dirty="0" err="1">
                <a:solidFill>
                  <a:srgbClr val="637168"/>
                </a:solidFill>
              </a:rPr>
              <a:t>업종</a:t>
            </a:r>
            <a:r>
              <a:rPr sz="1350" b="0" dirty="0">
                <a:solidFill>
                  <a:srgbClr val="637168"/>
                </a:solidFill>
              </a:rPr>
              <a:t> </a:t>
            </a:r>
            <a:r>
              <a:rPr sz="1350" b="0" dirty="0" err="1">
                <a:solidFill>
                  <a:srgbClr val="637168"/>
                </a:solidFill>
              </a:rPr>
              <a:t>다양성</a:t>
            </a:r>
            <a:r>
              <a:rPr sz="1350" b="0" dirty="0">
                <a:solidFill>
                  <a:srgbClr val="637168"/>
                </a:solidFill>
              </a:rPr>
              <a:t> · </a:t>
            </a:r>
            <a:r>
              <a:rPr sz="1350" b="0" dirty="0" err="1">
                <a:solidFill>
                  <a:srgbClr val="637168"/>
                </a:solidFill>
              </a:rPr>
              <a:t>문화</a:t>
            </a:r>
            <a:r>
              <a:rPr sz="1350" b="0" dirty="0">
                <a:solidFill>
                  <a:srgbClr val="637168"/>
                </a:solidFill>
              </a:rPr>
              <a:t> </a:t>
            </a:r>
            <a:r>
              <a:rPr sz="1350" b="0" dirty="0" err="1">
                <a:solidFill>
                  <a:srgbClr val="637168"/>
                </a:solidFill>
              </a:rPr>
              <a:t>다양성</a:t>
            </a:r>
            <a:endParaRPr sz="1350" b="0" dirty="0">
              <a:solidFill>
                <a:srgbClr val="637168"/>
              </a:solidFill>
            </a:endParaRPr>
          </a:p>
          <a:p>
            <a:pPr>
              <a:defRPr sz="1350" b="0">
                <a:solidFill>
                  <a:srgbClr val="637168"/>
                </a:solidFill>
              </a:defRPr>
            </a:pPr>
            <a:r>
              <a:rPr sz="1350" b="0" dirty="0" err="1">
                <a:solidFill>
                  <a:srgbClr val="637168"/>
                </a:solidFill>
              </a:rPr>
              <a:t>혼잡도</a:t>
            </a:r>
            <a:r>
              <a:rPr sz="1350" b="0" dirty="0">
                <a:solidFill>
                  <a:srgbClr val="637168"/>
                </a:solidFill>
              </a:rPr>
              <a:t> </a:t>
            </a:r>
            <a:r>
              <a:rPr sz="1350" b="0" dirty="0" err="1">
                <a:solidFill>
                  <a:srgbClr val="637168"/>
                </a:solidFill>
              </a:rPr>
              <a:t>페널티</a:t>
            </a:r>
            <a:endParaRPr sz="1350" b="0" dirty="0">
              <a:solidFill>
                <a:srgbClr val="637168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F68548-666C-4BFB-84DE-34B85FE46831}"/>
              </a:ext>
            </a:extLst>
          </p:cNvPr>
          <p:cNvSpPr>
            <a:spLocks noGrp="1"/>
          </p:cNvSpPr>
          <p:nvPr/>
        </p:nvSpPr>
        <p:spPr>
          <a:xfrm>
            <a:off x="9325455" y="3331482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57925B"/>
                </a:solidFill>
              </a:defRPr>
            </a:pPr>
            <a:r>
              <a:rPr sz="1875" b="1" dirty="0">
                <a:solidFill>
                  <a:srgbClr val="57925B"/>
                </a:solidFill>
              </a:rPr>
              <a:t>30%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65C778C-073C-4A7D-BBDC-F2660C96A1CE}"/>
              </a:ext>
            </a:extLst>
          </p:cNvPr>
          <p:cNvSpPr>
            <a:spLocks noGrp="1"/>
          </p:cNvSpPr>
          <p:nvPr/>
        </p:nvSpPr>
        <p:spPr>
          <a:xfrm>
            <a:off x="8025292" y="4867275"/>
            <a:ext cx="3238500" cy="1571625"/>
          </a:xfrm>
          <a:prstGeom prst="roundRect">
            <a:avLst>
              <a:gd name="adj" fmla="val 6400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ADC07C-11ED-436A-AF36-D563E513E667}"/>
              </a:ext>
            </a:extLst>
          </p:cNvPr>
          <p:cNvSpPr>
            <a:spLocks noGrp="1"/>
          </p:cNvSpPr>
          <p:nvPr/>
        </p:nvSpPr>
        <p:spPr>
          <a:xfrm>
            <a:off x="8253892" y="5153025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8231D"/>
                </a:solidFill>
              </a:defRPr>
            </a:pPr>
            <a:r>
              <a:rPr sz="1650" b="1">
                <a:solidFill>
                  <a:srgbClr val="18231D"/>
                </a:solidFill>
              </a:rPr>
              <a:t>방문 적합 점수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2F54774-D939-4E42-B84E-6A095B3753AB}"/>
              </a:ext>
            </a:extLst>
          </p:cNvPr>
          <p:cNvSpPr>
            <a:spLocks noGrp="1"/>
          </p:cNvSpPr>
          <p:nvPr/>
        </p:nvSpPr>
        <p:spPr>
          <a:xfrm>
            <a:off x="8253892" y="577215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>
                <a:solidFill>
                  <a:srgbClr val="637168"/>
                </a:solidFill>
              </a:defRPr>
            </a:pPr>
            <a:r>
              <a:rPr sz="1350" b="0">
                <a:solidFill>
                  <a:srgbClr val="637168"/>
                </a:solidFill>
              </a:rPr>
              <a:t>현재 혼잡도 · 생활인구</a:t>
            </a:r>
          </a:p>
          <a:p>
            <a:pPr>
              <a:defRPr sz="1350" b="0">
                <a:solidFill>
                  <a:srgbClr val="637168"/>
                </a:solidFill>
              </a:defRPr>
            </a:pPr>
            <a:r>
              <a:rPr sz="1350" b="0">
                <a:solidFill>
                  <a:srgbClr val="637168"/>
                </a:solidFill>
              </a:rPr>
              <a:t>카페·식사·문화 연결성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26780A8-CFA4-4FF0-9B0E-5C9D03B571B3}"/>
              </a:ext>
            </a:extLst>
          </p:cNvPr>
          <p:cNvSpPr>
            <a:spLocks noGrp="1"/>
          </p:cNvSpPr>
          <p:nvPr/>
        </p:nvSpPr>
        <p:spPr>
          <a:xfrm>
            <a:off x="10139842" y="51244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57925B"/>
                </a:solidFill>
              </a:defRPr>
            </a:pPr>
            <a:r>
              <a:rPr sz="1875" b="1" dirty="0">
                <a:solidFill>
                  <a:srgbClr val="57925B"/>
                </a:solidFill>
              </a:rPr>
              <a:t>20%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94DB408-0277-4BE4-AC3B-8914FCA01370}"/>
              </a:ext>
            </a:extLst>
          </p:cNvPr>
          <p:cNvSpPr>
            <a:spLocks noGrp="1"/>
          </p:cNvSpPr>
          <p:nvPr/>
        </p:nvSpPr>
        <p:spPr>
          <a:xfrm>
            <a:off x="752955" y="5992228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18231D"/>
                </a:solidFill>
              </a:defRPr>
            </a:pPr>
            <a:r>
              <a:rPr sz="1500" b="0">
                <a:solidFill>
                  <a:srgbClr val="18231D"/>
                </a:solidFill>
              </a:rPr>
              <a:t>모든 입력값은 0~100으로 정규화하며, 각 지역의 기여 요인을 함께 보여줍니다.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41CB394-100F-4EB5-9086-BC38396BEF9F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 b="0">
                <a:solidFill>
                  <a:srgbClr val="637168"/>
                </a:solidFill>
              </a:defRPr>
            </a:pPr>
            <a:r>
              <a:rPr sz="825" b="0">
                <a:solidFill>
                  <a:srgbClr val="637168"/>
                </a:solidFill>
              </a:rPr>
              <a:t>NEXT SPOT · MAWD Challenge MVP · 4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EDAE7BA-DA77-209B-F044-39BE87881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24250"/>
            <a:ext cx="6868484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411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602BFA20-03FE-4F6C-95AA-15F6C3E59EC6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57925B"/>
                </a:solidFill>
              </a:defRPr>
            </a:pPr>
            <a:r>
              <a:rPr sz="1050" b="1">
                <a:solidFill>
                  <a:srgbClr val="57925B"/>
                </a:solidFill>
              </a:rPr>
              <a:t>04 · TRANSPARENT EVIDENCE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402803-C08D-44C6-811C-36EA71085E07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>
                <a:solidFill>
                  <a:srgbClr val="18231D"/>
                </a:solidFill>
              </a:rPr>
              <a:t>NEXT SPOT의 핵심은 “왜 추천했는가”를 보여주는 것입니다.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FBA1FE6-AE6C-4F8B-82BE-C9D5AE4E38F6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4762500" cy="3524250"/>
          </a:xfrm>
          <a:prstGeom prst="roundRect">
            <a:avLst>
              <a:gd name="adj" fmla="val 4324"/>
            </a:avLst>
          </a:prstGeom>
          <a:solidFill>
            <a:srgbClr val="1C4B36"/>
          </a:solidFill>
          <a:ln w="0">
            <a:solidFill>
              <a:srgbClr val="1C4B3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5CBF94-E6DC-4B3C-92DB-C4B6B79D9B03}"/>
              </a:ext>
            </a:extLst>
          </p:cNvPr>
          <p:cNvSpPr>
            <a:spLocks noGrp="1"/>
          </p:cNvSpPr>
          <p:nvPr/>
        </p:nvSpPr>
        <p:spPr>
          <a:xfrm>
            <a:off x="1028700" y="21907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연남동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78AF8A0-C23F-4745-8518-978ECA3A294E}"/>
              </a:ext>
            </a:extLst>
          </p:cNvPr>
          <p:cNvSpPr>
            <a:spLocks noGrp="1"/>
          </p:cNvSpPr>
          <p:nvPr/>
        </p:nvSpPr>
        <p:spPr>
          <a:xfrm>
            <a:off x="1028700" y="2857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DCECC9"/>
                </a:solidFill>
              </a:defRPr>
            </a:pPr>
            <a:r>
              <a:rPr sz="1050" b="1">
                <a:solidFill>
                  <a:srgbClr val="DCECC9"/>
                </a:solidFill>
              </a:rPr>
              <a:t>NEXT SPOT SCORE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3BE3406-F651-48DB-9A15-4F7E1D1300FF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1428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87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289AB4-BCDD-4B24-BCF4-F8F311B9C694}"/>
              </a:ext>
            </a:extLst>
          </p:cNvPr>
          <p:cNvSpPr>
            <a:spLocks noGrp="1"/>
          </p:cNvSpPr>
          <p:nvPr/>
        </p:nvSpPr>
        <p:spPr>
          <a:xfrm>
            <a:off x="1028700" y="4286250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0">
                <a:solidFill>
                  <a:srgbClr val="D8E9D1"/>
                </a:solidFill>
              </a:defRPr>
            </a:pPr>
            <a:r>
              <a:rPr sz="1275" b="0">
                <a:solidFill>
                  <a:srgbClr val="D8E9D1"/>
                </a:solidFill>
              </a:rPr>
              <a:t>현재 혼잡도 62/100 · 보통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48F9AC-C64B-4D3D-9432-896AEB330F70}"/>
              </a:ext>
            </a:extLst>
          </p:cNvPr>
          <p:cNvSpPr>
            <a:spLocks noGrp="1"/>
          </p:cNvSpPr>
          <p:nvPr/>
        </p:nvSpPr>
        <p:spPr>
          <a:xfrm>
            <a:off x="6000750" y="1809750"/>
            <a:ext cx="4857750" cy="352425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85775A1-F98E-4727-9E2B-49277009CB45}"/>
              </a:ext>
            </a:extLst>
          </p:cNvPr>
          <p:cNvSpPr>
            <a:spLocks noGrp="1"/>
          </p:cNvSpPr>
          <p:nvPr/>
        </p:nvSpPr>
        <p:spPr>
          <a:xfrm>
            <a:off x="6305550" y="2143125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8231D"/>
                </a:solidFill>
              </a:defRPr>
            </a:pPr>
            <a:r>
              <a:rPr sz="1800" b="1">
                <a:solidFill>
                  <a:srgbClr val="18231D"/>
                </a:solidFill>
              </a:rPr>
              <a:t>왜 뜨는가?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4BCF98F-48EE-4BD4-BBE9-42B0CAA775A8}"/>
              </a:ext>
            </a:extLst>
          </p:cNvPr>
          <p:cNvSpPr>
            <a:spLocks noGrp="1"/>
          </p:cNvSpPr>
          <p:nvPr/>
        </p:nvSpPr>
        <p:spPr>
          <a:xfrm>
            <a:off x="6305550" y="2857500"/>
            <a:ext cx="342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57925B"/>
                </a:solidFill>
              </a:defRPr>
            </a:pPr>
            <a:r>
              <a:rPr sz="1800" b="1">
                <a:solidFill>
                  <a:srgbClr val="57925B"/>
                </a:solidFill>
              </a:rPr>
              <a:t>+ 신규 점포 32%</a:t>
            </a:r>
          </a:p>
          <a:p>
            <a:pPr>
              <a:defRPr sz="1800" b="1">
                <a:solidFill>
                  <a:srgbClr val="57925B"/>
                </a:solidFill>
              </a:defRPr>
            </a:pPr>
            <a:r>
              <a:rPr sz="1800" b="1">
                <a:solidFill>
                  <a:srgbClr val="57925B"/>
                </a:solidFill>
              </a:rPr>
              <a:t>+ 생활인구 18%</a:t>
            </a:r>
          </a:p>
          <a:p>
            <a:pPr>
              <a:defRPr sz="1800" b="1">
                <a:solidFill>
                  <a:srgbClr val="57925B"/>
                </a:solidFill>
              </a:defRPr>
            </a:pPr>
            <a:r>
              <a:rPr sz="1800" b="1">
                <a:solidFill>
                  <a:srgbClr val="57925B"/>
                </a:solidFill>
              </a:rPr>
              <a:t>+ 문화공간 3개</a:t>
            </a:r>
          </a:p>
          <a:p>
            <a:pPr>
              <a:defRPr sz="1800" b="1">
                <a:solidFill>
                  <a:srgbClr val="57925B"/>
                </a:solidFill>
              </a:defRPr>
            </a:pPr>
            <a:r>
              <a:rPr sz="1800" b="1">
                <a:solidFill>
                  <a:srgbClr val="57925B"/>
                </a:solidFill>
              </a:rPr>
              <a:t>+ 아직 과밀하지 않음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0C0B9EF-C021-439F-8EA7-5DD819F51917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 b="0">
                <a:solidFill>
                  <a:srgbClr val="637168"/>
                </a:solidFill>
              </a:defRPr>
            </a:pPr>
            <a:r>
              <a:rPr sz="825" b="0">
                <a:solidFill>
                  <a:srgbClr val="637168"/>
                </a:solidFill>
              </a:rPr>
              <a:t>NEXT SPOT · MAWD Challenge MVP · 5</a:t>
            </a:r>
          </a:p>
        </p:txBody>
      </p:sp>
    </p:spTree>
    <p:extLst>
      <p:ext uri="{BB962C8B-B14F-4D97-AF65-F5344CB8AC3E}">
        <p14:creationId xmlns:p14="http://schemas.microsoft.com/office/powerpoint/2010/main" val="266757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F5CAC00E-C230-47AF-9244-28CC9E919884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57925B"/>
                </a:solidFill>
              </a:defRPr>
            </a:pPr>
            <a:r>
              <a:rPr sz="1050" b="1">
                <a:solidFill>
                  <a:srgbClr val="57925B"/>
                </a:solidFill>
              </a:rPr>
              <a:t>05 · BUSINESS MODEL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8F29295-6F9E-43DE-8CB5-5E4074372AD4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 err="1">
                <a:solidFill>
                  <a:srgbClr val="18231D"/>
                </a:solidFill>
              </a:rPr>
              <a:t>처음부터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구독을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팔기보다</a:t>
            </a:r>
            <a:r>
              <a:rPr sz="2850" b="1" dirty="0">
                <a:solidFill>
                  <a:srgbClr val="18231D"/>
                </a:solidFill>
              </a:rPr>
              <a:t>,</a:t>
            </a:r>
            <a:endParaRPr lang="en-US" sz="2850" b="1" dirty="0">
              <a:solidFill>
                <a:srgbClr val="18231D"/>
              </a:solidFill>
            </a:endParaRPr>
          </a:p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 err="1">
                <a:solidFill>
                  <a:srgbClr val="18231D"/>
                </a:solidFill>
              </a:rPr>
              <a:t>의사결정에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필요한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리포트부터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검증합니다</a:t>
            </a:r>
            <a:r>
              <a:rPr sz="2850" b="1" dirty="0">
                <a:solidFill>
                  <a:srgbClr val="18231D"/>
                </a:solidFill>
              </a:rPr>
              <a:t>.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B88DED9-A948-4BF4-B5AB-82EEA495A41D}"/>
              </a:ext>
            </a:extLst>
          </p:cNvPr>
          <p:cNvSpPr>
            <a:spLocks noGrp="1"/>
          </p:cNvSpPr>
          <p:nvPr/>
        </p:nvSpPr>
        <p:spPr>
          <a:xfrm>
            <a:off x="685800" y="2019300"/>
            <a:ext cx="10096500" cy="819150"/>
          </a:xfrm>
          <a:prstGeom prst="roundRect">
            <a:avLst>
              <a:gd name="adj" fmla="val 18605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45ACFC6-49FE-4F4E-9E59-BC44017B6534}"/>
              </a:ext>
            </a:extLst>
          </p:cNvPr>
          <p:cNvSpPr>
            <a:spLocks noGrp="1"/>
          </p:cNvSpPr>
          <p:nvPr/>
        </p:nvSpPr>
        <p:spPr>
          <a:xfrm>
            <a:off x="952500" y="22288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57925B"/>
                </a:solidFill>
              </a:defRPr>
            </a:pPr>
            <a:r>
              <a:rPr sz="1350" b="1">
                <a:solidFill>
                  <a:srgbClr val="57925B"/>
                </a:solidFill>
              </a:rPr>
              <a:t>지금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D1C94E-4FB4-4E4C-B6D8-A60D33F09035}"/>
              </a:ext>
            </a:extLst>
          </p:cNvPr>
          <p:cNvSpPr>
            <a:spLocks noGrp="1"/>
          </p:cNvSpPr>
          <p:nvPr/>
        </p:nvSpPr>
        <p:spPr>
          <a:xfrm>
            <a:off x="3143250" y="2200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18231D"/>
                </a:solidFill>
              </a:defRPr>
            </a:pPr>
            <a:r>
              <a:rPr sz="1575" b="1">
                <a:solidFill>
                  <a:srgbClr val="18231D"/>
                </a:solidFill>
              </a:rPr>
              <a:t>개인 사용자 무료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76FC1E-8623-4A4D-B554-76F9946DB993}"/>
              </a:ext>
            </a:extLst>
          </p:cNvPr>
          <p:cNvSpPr>
            <a:spLocks noGrp="1"/>
          </p:cNvSpPr>
          <p:nvPr/>
        </p:nvSpPr>
        <p:spPr>
          <a:xfrm>
            <a:off x="6477000" y="222885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0">
                <a:solidFill>
                  <a:srgbClr val="637168"/>
                </a:solidFill>
              </a:defRPr>
            </a:pPr>
            <a:r>
              <a:rPr sz="1275" b="0">
                <a:solidFill>
                  <a:srgbClr val="637168"/>
                </a:solidFill>
              </a:rPr>
              <a:t>키워드 탐색·지도·상세 근거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9BC83F2-4AFC-4285-8D7A-9C8334BDCACE}"/>
              </a:ext>
            </a:extLst>
          </p:cNvPr>
          <p:cNvSpPr>
            <a:spLocks noGrp="1"/>
          </p:cNvSpPr>
          <p:nvPr/>
        </p:nvSpPr>
        <p:spPr>
          <a:xfrm>
            <a:off x="685800" y="3114675"/>
            <a:ext cx="10096500" cy="819150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3B85A75-7D3C-4A25-B8AD-CBFF0FD611C5}"/>
              </a:ext>
            </a:extLst>
          </p:cNvPr>
          <p:cNvSpPr>
            <a:spLocks noGrp="1"/>
          </p:cNvSpPr>
          <p:nvPr/>
        </p:nvSpPr>
        <p:spPr>
          <a:xfrm>
            <a:off x="952500" y="332422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57925B"/>
                </a:solidFill>
              </a:defRPr>
            </a:pPr>
            <a:r>
              <a:rPr sz="1350" b="1">
                <a:solidFill>
                  <a:srgbClr val="57925B"/>
                </a:solidFill>
              </a:rPr>
              <a:t>초기 매출 실험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848DB6-5100-4F37-92B5-2242D98BED47}"/>
              </a:ext>
            </a:extLst>
          </p:cNvPr>
          <p:cNvSpPr>
            <a:spLocks noGrp="1"/>
          </p:cNvSpPr>
          <p:nvPr/>
        </p:nvSpPr>
        <p:spPr>
          <a:xfrm>
            <a:off x="3143250" y="32956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18231D"/>
                </a:solidFill>
              </a:defRPr>
            </a:pPr>
            <a:r>
              <a:rPr sz="1575" b="1">
                <a:solidFill>
                  <a:srgbClr val="18231D"/>
                </a:solidFill>
              </a:rPr>
              <a:t>1회성 출점 후보지 리포트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BAB0A5-C63A-452D-9DEE-8723877D2926}"/>
              </a:ext>
            </a:extLst>
          </p:cNvPr>
          <p:cNvSpPr>
            <a:spLocks noGrp="1"/>
          </p:cNvSpPr>
          <p:nvPr/>
        </p:nvSpPr>
        <p:spPr>
          <a:xfrm>
            <a:off x="6477000" y="332422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0">
                <a:solidFill>
                  <a:srgbClr val="637168"/>
                </a:solidFill>
              </a:defRPr>
            </a:pPr>
            <a:r>
              <a:rPr sz="1275" b="0">
                <a:solidFill>
                  <a:srgbClr val="637168"/>
                </a:solidFill>
              </a:rPr>
              <a:t>브랜드에 맞는 다음 후보 5곳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B7C6323-9A6D-4EFA-97B2-A33890982167}"/>
              </a:ext>
            </a:extLst>
          </p:cNvPr>
          <p:cNvSpPr>
            <a:spLocks noGrp="1"/>
          </p:cNvSpPr>
          <p:nvPr/>
        </p:nvSpPr>
        <p:spPr>
          <a:xfrm>
            <a:off x="685800" y="4210050"/>
            <a:ext cx="10096500" cy="819150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891152-B9A4-48CC-BFEC-46BF8AFB1A13}"/>
              </a:ext>
            </a:extLst>
          </p:cNvPr>
          <p:cNvSpPr>
            <a:spLocks noGrp="1"/>
          </p:cNvSpPr>
          <p:nvPr/>
        </p:nvSpPr>
        <p:spPr>
          <a:xfrm>
            <a:off x="952500" y="44196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57925B"/>
                </a:solidFill>
              </a:defRPr>
            </a:pPr>
            <a:r>
              <a:rPr sz="1350" b="1">
                <a:solidFill>
                  <a:srgbClr val="57925B"/>
                </a:solidFill>
              </a:rPr>
              <a:t>장기 확장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9E410F-4E46-4DF3-AA9D-25D9992AEFFE}"/>
              </a:ext>
            </a:extLst>
          </p:cNvPr>
          <p:cNvSpPr>
            <a:spLocks noGrp="1"/>
          </p:cNvSpPr>
          <p:nvPr/>
        </p:nvSpPr>
        <p:spPr>
          <a:xfrm>
            <a:off x="3143250" y="43910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18231D"/>
                </a:solidFill>
              </a:defRPr>
            </a:pPr>
            <a:r>
              <a:rPr sz="1575" b="1">
                <a:solidFill>
                  <a:srgbClr val="18231D"/>
                </a:solidFill>
              </a:rPr>
              <a:t>프랜차이즈·공공기관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519C43-880B-4479-BF90-712EAECA81B8}"/>
              </a:ext>
            </a:extLst>
          </p:cNvPr>
          <p:cNvSpPr>
            <a:spLocks noGrp="1"/>
          </p:cNvSpPr>
          <p:nvPr/>
        </p:nvSpPr>
        <p:spPr>
          <a:xfrm>
            <a:off x="6477000" y="4419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0">
                <a:solidFill>
                  <a:srgbClr val="637168"/>
                </a:solidFill>
              </a:defRPr>
            </a:pPr>
            <a:r>
              <a:rPr sz="1275" b="0">
                <a:solidFill>
                  <a:srgbClr val="637168"/>
                </a:solidFill>
              </a:rPr>
              <a:t>입지 분석·지역 변화 모니터링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1D9339-AA20-4F11-95D3-0E0A6DC8471D}"/>
              </a:ext>
            </a:extLst>
          </p:cNvPr>
          <p:cNvSpPr>
            <a:spLocks noGrp="1"/>
          </p:cNvSpPr>
          <p:nvPr/>
        </p:nvSpPr>
        <p:spPr>
          <a:xfrm>
            <a:off x="685800" y="554355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E99228"/>
                </a:solidFill>
              </a:defRPr>
            </a:pPr>
            <a:r>
              <a:rPr sz="1350" b="1">
                <a:solidFill>
                  <a:srgbClr val="E99228"/>
                </a:solidFill>
              </a:rPr>
              <a:t>가격과 구매 가능성은 모두 검증이 필요한 가설입니다.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C3CD37E-CFD4-4484-AB69-BED781800E9A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 b="0">
                <a:solidFill>
                  <a:srgbClr val="637168"/>
                </a:solidFill>
              </a:defRPr>
            </a:pPr>
            <a:r>
              <a:rPr sz="825" b="0">
                <a:solidFill>
                  <a:srgbClr val="637168"/>
                </a:solidFill>
              </a:rPr>
              <a:t>NEXT SPOT · MAWD Challenge MVP · 6</a:t>
            </a:r>
          </a:p>
        </p:txBody>
      </p:sp>
    </p:spTree>
    <p:extLst>
      <p:ext uri="{BB962C8B-B14F-4D97-AF65-F5344CB8AC3E}">
        <p14:creationId xmlns:p14="http://schemas.microsoft.com/office/powerpoint/2010/main" val="2110815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2FB6C9AF-E8F8-49C9-8C49-36AB40D0B3C1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57925B"/>
                </a:solidFill>
              </a:defRPr>
            </a:pPr>
            <a:r>
              <a:rPr sz="1050" b="1">
                <a:solidFill>
                  <a:srgbClr val="57925B"/>
                </a:solidFill>
              </a:rPr>
              <a:t>06 · MVP &amp; NEXT STEP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8BBC56A-2062-4661-9E3A-1FEE7961077D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>
                <a:solidFill>
                  <a:srgbClr val="18231D"/>
                </a:solidFill>
              </a:rPr>
              <a:t>5시간 </a:t>
            </a:r>
            <a:r>
              <a:rPr sz="2850" b="1" dirty="0" err="1">
                <a:solidFill>
                  <a:srgbClr val="18231D"/>
                </a:solidFill>
              </a:rPr>
              <a:t>안에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검증할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것은</a:t>
            </a:r>
            <a:r>
              <a:rPr sz="2850" b="1" dirty="0">
                <a:solidFill>
                  <a:srgbClr val="18231D"/>
                </a:solidFill>
              </a:rPr>
              <a:t> “</a:t>
            </a:r>
            <a:r>
              <a:rPr sz="2850" b="1" dirty="0" err="1">
                <a:solidFill>
                  <a:srgbClr val="18231D"/>
                </a:solidFill>
              </a:rPr>
              <a:t>예측의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정확도”보다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endParaRPr lang="en-US" sz="2850" b="1" dirty="0">
              <a:solidFill>
                <a:srgbClr val="18231D"/>
              </a:solidFill>
            </a:endParaRPr>
          </a:p>
          <a:p>
            <a:pPr>
              <a:defRPr sz="2850" b="1">
                <a:solidFill>
                  <a:srgbClr val="18231D"/>
                </a:solidFill>
              </a:defRPr>
            </a:pPr>
            <a:r>
              <a:rPr sz="2850" b="1" dirty="0">
                <a:solidFill>
                  <a:srgbClr val="18231D"/>
                </a:solidFill>
              </a:rPr>
              <a:t>“</a:t>
            </a:r>
            <a:r>
              <a:rPr sz="2850" b="1" dirty="0" err="1">
                <a:solidFill>
                  <a:srgbClr val="18231D"/>
                </a:solidFill>
              </a:rPr>
              <a:t>발견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경험의</a:t>
            </a:r>
            <a:r>
              <a:rPr sz="2850" b="1" dirty="0">
                <a:solidFill>
                  <a:srgbClr val="18231D"/>
                </a:solidFill>
              </a:rPr>
              <a:t> </a:t>
            </a:r>
            <a:r>
              <a:rPr sz="2850" b="1" dirty="0" err="1">
                <a:solidFill>
                  <a:srgbClr val="18231D"/>
                </a:solidFill>
              </a:rPr>
              <a:t>가치”입니다</a:t>
            </a:r>
            <a:r>
              <a:rPr sz="2850" b="1" dirty="0">
                <a:solidFill>
                  <a:srgbClr val="18231D"/>
                </a:solidFill>
              </a:rPr>
              <a:t>.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C08AC36-F682-4A56-B169-265A804652B7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2095500" cy="1238250"/>
          </a:xfrm>
          <a:prstGeom prst="roundRect">
            <a:avLst>
              <a:gd name="adj" fmla="val 12308"/>
            </a:avLst>
          </a:prstGeom>
          <a:solidFill>
            <a:srgbClr val="1C4B36"/>
          </a:solidFill>
          <a:ln w="0">
            <a:solidFill>
              <a:srgbClr val="1C4B3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A808467-470E-494F-A0A7-93D9431EBF45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1. 키워드 입력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EF971C-FFA5-4B17-80AD-C477F1A89761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0">
                <a:solidFill>
                  <a:srgbClr val="D8E9D1"/>
                </a:solidFill>
              </a:defRPr>
            </a:pPr>
            <a:r>
              <a:rPr sz="1125" b="0">
                <a:solidFill>
                  <a:srgbClr val="D8E9D1"/>
                </a:solidFill>
              </a:rPr>
              <a:t>검색 완료율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BDF29C2-D805-4EAD-BFC7-044509B0ED30}"/>
              </a:ext>
            </a:extLst>
          </p:cNvPr>
          <p:cNvSpPr>
            <a:spLocks noGrp="1"/>
          </p:cNvSpPr>
          <p:nvPr/>
        </p:nvSpPr>
        <p:spPr>
          <a:xfrm>
            <a:off x="3305175" y="2219325"/>
            <a:ext cx="2095500" cy="1238250"/>
          </a:xfrm>
          <a:prstGeom prst="roundRect">
            <a:avLst>
              <a:gd name="adj" fmla="val 12308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0B297C0-A1BC-4926-BEB8-086AAE5224AA}"/>
              </a:ext>
            </a:extLst>
          </p:cNvPr>
          <p:cNvSpPr>
            <a:spLocks noGrp="1"/>
          </p:cNvSpPr>
          <p:nvPr/>
        </p:nvSpPr>
        <p:spPr>
          <a:xfrm>
            <a:off x="3495675" y="24765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18231D"/>
                </a:solidFill>
              </a:defRPr>
            </a:pPr>
            <a:r>
              <a:rPr sz="1500" b="1">
                <a:solidFill>
                  <a:srgbClr val="18231D"/>
                </a:solidFill>
              </a:rPr>
              <a:t>2. 지도·추천 결과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AA47CA-A899-49FB-9312-9F37BF57DBBE}"/>
              </a:ext>
            </a:extLst>
          </p:cNvPr>
          <p:cNvSpPr>
            <a:spLocks noGrp="1"/>
          </p:cNvSpPr>
          <p:nvPr/>
        </p:nvSpPr>
        <p:spPr>
          <a:xfrm>
            <a:off x="3495675" y="29527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0">
                <a:solidFill>
                  <a:srgbClr val="637168"/>
                </a:solidFill>
              </a:defRPr>
            </a:pPr>
            <a:r>
              <a:rPr sz="1125" b="0">
                <a:solidFill>
                  <a:srgbClr val="637168"/>
                </a:solidFill>
              </a:rPr>
              <a:t>카드 클릭률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C9C43BD-BAA2-467C-98B6-83A83F85B8A9}"/>
              </a:ext>
            </a:extLst>
          </p:cNvPr>
          <p:cNvSpPr>
            <a:spLocks noGrp="1"/>
          </p:cNvSpPr>
          <p:nvPr/>
        </p:nvSpPr>
        <p:spPr>
          <a:xfrm>
            <a:off x="5924550" y="2219325"/>
            <a:ext cx="2095500" cy="1238250"/>
          </a:xfrm>
          <a:prstGeom prst="roundRect">
            <a:avLst>
              <a:gd name="adj" fmla="val 12308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323DC5D-32E9-4CFB-93B5-B99149653EB9}"/>
              </a:ext>
            </a:extLst>
          </p:cNvPr>
          <p:cNvSpPr>
            <a:spLocks noGrp="1"/>
          </p:cNvSpPr>
          <p:nvPr/>
        </p:nvSpPr>
        <p:spPr>
          <a:xfrm>
            <a:off x="6115050" y="24765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18231D"/>
                </a:solidFill>
              </a:defRPr>
            </a:pPr>
            <a:r>
              <a:rPr sz="1500" b="1">
                <a:solidFill>
                  <a:srgbClr val="18231D"/>
                </a:solidFill>
              </a:rPr>
              <a:t>3. 상세 근거 확인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4DE3DE-DFBB-45D1-BEE5-160F1B1AA7E2}"/>
              </a:ext>
            </a:extLst>
          </p:cNvPr>
          <p:cNvSpPr>
            <a:spLocks noGrp="1"/>
          </p:cNvSpPr>
          <p:nvPr/>
        </p:nvSpPr>
        <p:spPr>
          <a:xfrm>
            <a:off x="6115050" y="29527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0">
                <a:solidFill>
                  <a:srgbClr val="637168"/>
                </a:solidFill>
              </a:defRPr>
            </a:pPr>
            <a:r>
              <a:rPr sz="1125" b="0">
                <a:solidFill>
                  <a:srgbClr val="637168"/>
                </a:solidFill>
              </a:rPr>
              <a:t>상세 진입률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4E57BAC-003A-44D2-80D7-8672CF2B616A}"/>
              </a:ext>
            </a:extLst>
          </p:cNvPr>
          <p:cNvSpPr>
            <a:spLocks noGrp="1"/>
          </p:cNvSpPr>
          <p:nvPr/>
        </p:nvSpPr>
        <p:spPr>
          <a:xfrm>
            <a:off x="8582025" y="2190750"/>
            <a:ext cx="2095500" cy="1238250"/>
          </a:xfrm>
          <a:prstGeom prst="roundRect">
            <a:avLst>
              <a:gd name="adj" fmla="val 12308"/>
            </a:avLst>
          </a:prstGeom>
          <a:solidFill>
            <a:srgbClr val="EAF1E5"/>
          </a:solidFill>
          <a:ln w="0">
            <a:solidFill>
              <a:srgbClr val="EAF1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5B1574-A200-401F-8EC0-59BD53318BC7}"/>
              </a:ext>
            </a:extLst>
          </p:cNvPr>
          <p:cNvSpPr>
            <a:spLocks noGrp="1"/>
          </p:cNvSpPr>
          <p:nvPr/>
        </p:nvSpPr>
        <p:spPr>
          <a:xfrm>
            <a:off x="8734425" y="24765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18231D"/>
                </a:solidFill>
              </a:defRPr>
            </a:pPr>
            <a:r>
              <a:rPr sz="1500" b="1">
                <a:solidFill>
                  <a:srgbClr val="18231D"/>
                </a:solidFill>
              </a:rPr>
              <a:t>4. 저장·공유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3444105-6220-4DE1-B226-7C1577B5BC5A}"/>
              </a:ext>
            </a:extLst>
          </p:cNvPr>
          <p:cNvSpPr>
            <a:spLocks noGrp="1"/>
          </p:cNvSpPr>
          <p:nvPr/>
        </p:nvSpPr>
        <p:spPr>
          <a:xfrm>
            <a:off x="8734425" y="29527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0">
                <a:solidFill>
                  <a:srgbClr val="637168"/>
                </a:solidFill>
              </a:defRPr>
            </a:pPr>
            <a:r>
              <a:rPr sz="1125" b="0">
                <a:solidFill>
                  <a:srgbClr val="637168"/>
                </a:solidFill>
              </a:rPr>
              <a:t>저장·공유율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19BF65C-58D1-49F5-A98C-324F671B676E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11506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8231D"/>
                </a:solidFill>
              </a:defRPr>
            </a:pPr>
            <a:r>
              <a:rPr sz="1800" b="1" dirty="0">
                <a:solidFill>
                  <a:srgbClr val="18231D"/>
                </a:solidFill>
              </a:rPr>
              <a:t>NEXT </a:t>
            </a:r>
            <a:r>
              <a:rPr sz="1800" b="1" dirty="0" err="1">
                <a:solidFill>
                  <a:srgbClr val="18231D"/>
                </a:solidFill>
              </a:rPr>
              <a:t>SPOT은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먼저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개인의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다음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동네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발견을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무료로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해결하고</a:t>
            </a:r>
            <a:r>
              <a:rPr sz="1800" b="1" dirty="0">
                <a:solidFill>
                  <a:srgbClr val="18231D"/>
                </a:solidFill>
              </a:rPr>
              <a:t>, </a:t>
            </a:r>
            <a:r>
              <a:rPr sz="1800" b="1" dirty="0" err="1">
                <a:solidFill>
                  <a:srgbClr val="18231D"/>
                </a:solidFill>
              </a:rPr>
              <a:t>이후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출점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의사결정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데이터로</a:t>
            </a:r>
            <a:r>
              <a:rPr sz="1800" b="1" dirty="0">
                <a:solidFill>
                  <a:srgbClr val="18231D"/>
                </a:solidFill>
              </a:rPr>
              <a:t> </a:t>
            </a:r>
            <a:r>
              <a:rPr sz="1800" b="1" dirty="0" err="1">
                <a:solidFill>
                  <a:srgbClr val="18231D"/>
                </a:solidFill>
              </a:rPr>
              <a:t>확장합니다</a:t>
            </a:r>
            <a:r>
              <a:rPr sz="1800" b="1" dirty="0">
                <a:solidFill>
                  <a:srgbClr val="18231D"/>
                </a:solidFill>
              </a:rPr>
              <a:t>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EE927AD-EEEA-4AD8-81BF-34412635C910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 b="0">
                <a:solidFill>
                  <a:srgbClr val="637168"/>
                </a:solidFill>
              </a:defRPr>
            </a:pPr>
            <a:r>
              <a:rPr sz="825" b="0">
                <a:solidFill>
                  <a:srgbClr val="637168"/>
                </a:solidFill>
              </a:rPr>
              <a:t>NEXT SPOT · MAWD Challenge MVP · 7</a:t>
            </a:r>
          </a:p>
        </p:txBody>
      </p:sp>
    </p:spTree>
    <p:extLst>
      <p:ext uri="{BB962C8B-B14F-4D97-AF65-F5344CB8AC3E}">
        <p14:creationId xmlns:p14="http://schemas.microsoft.com/office/powerpoint/2010/main" val="17529326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394</Words>
  <Application>Microsoft Office PowerPoint</Application>
  <DocSecurity>0</DocSecurity>
  <PresentationFormat>와이드스크린</PresentationFormat>
  <Paragraphs>75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9" baseType="lpstr"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나연 김</cp:lastModifiedBy>
  <cp:revision>1</cp:revision>
  <dcterms:created xsi:type="dcterms:W3CDTF">2026-08-18T11:17:46Z</dcterms:created>
  <dcterms:modified xsi:type="dcterms:W3CDTF">2026-08-18T12:53:26Z</dcterms:modified>
</cp:coreProperties>
</file>