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72" y="6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52928B0-A590-4FFD-BE3A-01538AEE63DA}"/>
              </a:ext>
            </a:extLst>
          </p:cNvPr>
          <p:cNvSpPr>
            <a:spLocks noGrp="1"/>
          </p:cNvSpPr>
          <p:nvPr/>
        </p:nvSpPr>
        <p:spPr>
          <a:xfrm>
            <a:off x="666750" y="66675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4268F5"/>
                </a:solidFill>
              </a:defRPr>
            </a:pPr>
            <a:r>
              <a:rPr sz="1200" b="1">
                <a:solidFill>
                  <a:srgbClr val="4268F5"/>
                </a:solidFill>
              </a:rPr>
              <a:t>NEXT SPOT · CHANGE RADAR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9321DBF-B7BC-4CA5-A5B2-36066FC43427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9525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350" b="1">
                <a:solidFill>
                  <a:srgbClr val="172B4D"/>
                </a:solidFill>
              </a:defRPr>
            </a:pPr>
            <a:r>
              <a:rPr sz="4350" b="1">
                <a:solidFill>
                  <a:srgbClr val="172B4D"/>
                </a:solidFill>
              </a:rPr>
              <a:t>사람들이 몰리기 전에,</a:t>
            </a:r>
          </a:p>
          <a:p>
            <a:pPr>
              <a:defRPr sz="4350" b="1">
                <a:solidFill>
                  <a:srgbClr val="172B4D"/>
                </a:solidFill>
              </a:defRPr>
            </a:pPr>
            <a:r>
              <a:rPr sz="4350" b="1">
                <a:solidFill>
                  <a:srgbClr val="172B4D"/>
                </a:solidFill>
              </a:rPr>
              <a:t>다음 동네를 발견하세요.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D942AE5-FC3C-45DC-839C-A43F60E23D76}"/>
              </a:ext>
            </a:extLst>
          </p:cNvPr>
          <p:cNvSpPr>
            <a:spLocks noGrp="1"/>
          </p:cNvSpPr>
          <p:nvPr/>
        </p:nvSpPr>
        <p:spPr>
          <a:xfrm>
            <a:off x="714375" y="3333750"/>
            <a:ext cx="857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637083"/>
                </a:solidFill>
              </a:defRPr>
            </a:pPr>
            <a:r>
              <a:rPr sz="1650" b="0">
                <a:solidFill>
                  <a:srgbClr val="637083"/>
                </a:solidFill>
              </a:rPr>
              <a:t>지역의 작은 변화 신호를 읽어 아직 과밀하지 않은 다음 동네를 찾습니다.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966F18D-C4D7-4F60-9360-B2FDE9D9AD20}"/>
              </a:ext>
            </a:extLst>
          </p:cNvPr>
          <p:cNvSpPr>
            <a:spLocks noGrp="1"/>
          </p:cNvSpPr>
          <p:nvPr/>
        </p:nvSpPr>
        <p:spPr>
          <a:xfrm>
            <a:off x="714375" y="58102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637083"/>
                </a:solidFill>
              </a:defRPr>
            </a:pPr>
            <a:r>
              <a:rPr sz="1200" b="0">
                <a:solidFill>
                  <a:srgbClr val="637083"/>
                </a:solidFill>
              </a:rPr>
              <a:t>MAWD Challenge · 아정당 데이터 기반 MVP</a:t>
            </a:r>
          </a:p>
        </p:txBody>
      </p:sp>
    </p:spTree>
    <p:extLst>
      <p:ext uri="{BB962C8B-B14F-4D97-AF65-F5344CB8AC3E}">
        <p14:creationId xmlns:p14="http://schemas.microsoft.com/office/powerpoint/2010/main" val="389802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609804F-7D14-494C-9100-50D432523B3C}"/>
              </a:ext>
            </a:extLst>
          </p:cNvPr>
          <p:cNvSpPr>
            <a:spLocks noGrp="1"/>
          </p:cNvSpPr>
          <p:nvPr/>
        </p:nvSpPr>
        <p:spPr>
          <a:xfrm>
            <a:off x="666750" y="4381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4268F5"/>
                </a:solidFill>
              </a:defRPr>
            </a:pPr>
            <a:r>
              <a:rPr sz="1050" b="1">
                <a:solidFill>
                  <a:srgbClr val="4268F5"/>
                </a:solidFill>
              </a:rPr>
              <a:t>01 · PROBLEM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5F0A27-B0AD-4811-84E2-512EADDD655C}"/>
              </a:ext>
            </a:extLst>
          </p:cNvPr>
          <p:cNvSpPr>
            <a:spLocks noGrp="1"/>
          </p:cNvSpPr>
          <p:nvPr/>
        </p:nvSpPr>
        <p:spPr>
          <a:xfrm>
            <a:off x="666750" y="85725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72B4D"/>
                </a:solidFill>
              </a:defRPr>
            </a:pPr>
            <a:r>
              <a:rPr sz="2850" b="1">
                <a:solidFill>
                  <a:srgbClr val="172B4D"/>
                </a:solidFill>
              </a:rPr>
              <a:t>이미 유명한 곳은 붐비고, 새로운 곳은 찾기 어렵습니다.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32C5756-12EC-47DA-8890-E8D6D739B7EB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7239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서울의 핫플 탐색은 인기순·검색순에 치우쳐 있습니다.</a:t>
            </a:r>
          </a:p>
          <a:p>
            <a:pPr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대기·혼잡·비슷한 추천을 피하면서 새로운 동네를 찾기 어렵습니다.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81F012D-4795-4B02-A1AB-4D8C263DDD2B}"/>
              </a:ext>
            </a:extLst>
          </p:cNvPr>
          <p:cNvSpPr>
            <a:spLocks noGrp="1"/>
          </p:cNvSpPr>
          <p:nvPr/>
        </p:nvSpPr>
        <p:spPr>
          <a:xfrm>
            <a:off x="666749" y="3810000"/>
            <a:ext cx="9865179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4268F5"/>
                </a:solidFill>
              </a:defRPr>
            </a:pPr>
            <a:r>
              <a:rPr sz="2250" b="1" dirty="0" err="1">
                <a:solidFill>
                  <a:srgbClr val="4268F5"/>
                </a:solidFill>
              </a:rPr>
              <a:t>사용자</a:t>
            </a:r>
            <a:r>
              <a:rPr sz="2250" b="1" dirty="0">
                <a:solidFill>
                  <a:srgbClr val="4268F5"/>
                </a:solidFill>
              </a:rPr>
              <a:t> </a:t>
            </a:r>
            <a:r>
              <a:rPr sz="2250" b="1" dirty="0" err="1">
                <a:solidFill>
                  <a:srgbClr val="4268F5"/>
                </a:solidFill>
              </a:rPr>
              <a:t>질문</a:t>
            </a:r>
            <a:endParaRPr sz="2250" b="1" dirty="0">
              <a:solidFill>
                <a:srgbClr val="4268F5"/>
              </a:solidFill>
            </a:endParaRPr>
          </a:p>
          <a:p>
            <a:pPr>
              <a:defRPr sz="2250" b="1">
                <a:solidFill>
                  <a:srgbClr val="4268F5"/>
                </a:solidFill>
              </a:defRPr>
            </a:pPr>
            <a:r>
              <a:rPr sz="2250" b="1" dirty="0">
                <a:solidFill>
                  <a:srgbClr val="4268F5"/>
                </a:solidFill>
              </a:rPr>
              <a:t>“</a:t>
            </a:r>
            <a:r>
              <a:rPr sz="2250" b="1" dirty="0" err="1">
                <a:solidFill>
                  <a:srgbClr val="4268F5"/>
                </a:solidFill>
              </a:rPr>
              <a:t>사람이</a:t>
            </a:r>
            <a:r>
              <a:rPr sz="2250" b="1" dirty="0">
                <a:solidFill>
                  <a:srgbClr val="4268F5"/>
                </a:solidFill>
              </a:rPr>
              <a:t> </a:t>
            </a:r>
            <a:r>
              <a:rPr sz="2250" b="1" dirty="0" err="1">
                <a:solidFill>
                  <a:srgbClr val="4268F5"/>
                </a:solidFill>
              </a:rPr>
              <a:t>너무</a:t>
            </a:r>
            <a:r>
              <a:rPr sz="2250" b="1" dirty="0">
                <a:solidFill>
                  <a:srgbClr val="4268F5"/>
                </a:solidFill>
              </a:rPr>
              <a:t> </a:t>
            </a:r>
            <a:r>
              <a:rPr sz="2250" b="1" dirty="0" err="1">
                <a:solidFill>
                  <a:srgbClr val="4268F5"/>
                </a:solidFill>
              </a:rPr>
              <a:t>많지</a:t>
            </a:r>
            <a:r>
              <a:rPr sz="2250" b="1" dirty="0">
                <a:solidFill>
                  <a:srgbClr val="4268F5"/>
                </a:solidFill>
              </a:rPr>
              <a:t> </a:t>
            </a:r>
            <a:r>
              <a:rPr sz="2250" b="1" dirty="0" err="1">
                <a:solidFill>
                  <a:srgbClr val="4268F5"/>
                </a:solidFill>
              </a:rPr>
              <a:t>않으면서</a:t>
            </a:r>
            <a:r>
              <a:rPr sz="2250" b="1" dirty="0">
                <a:solidFill>
                  <a:srgbClr val="4268F5"/>
                </a:solidFill>
              </a:rPr>
              <a:t>, </a:t>
            </a:r>
            <a:r>
              <a:rPr sz="2250" b="1" dirty="0" err="1">
                <a:solidFill>
                  <a:srgbClr val="4268F5"/>
                </a:solidFill>
              </a:rPr>
              <a:t>지금</a:t>
            </a:r>
            <a:r>
              <a:rPr sz="2250" b="1" dirty="0">
                <a:solidFill>
                  <a:srgbClr val="4268F5"/>
                </a:solidFill>
              </a:rPr>
              <a:t> </a:t>
            </a:r>
            <a:r>
              <a:rPr sz="2250" b="1" dirty="0" err="1">
                <a:solidFill>
                  <a:srgbClr val="4268F5"/>
                </a:solidFill>
              </a:rPr>
              <a:t>변화하고</a:t>
            </a:r>
            <a:r>
              <a:rPr sz="2250" b="1" dirty="0">
                <a:solidFill>
                  <a:srgbClr val="4268F5"/>
                </a:solidFill>
              </a:rPr>
              <a:t> </a:t>
            </a:r>
            <a:r>
              <a:rPr sz="2250" b="1" dirty="0" err="1">
                <a:solidFill>
                  <a:srgbClr val="4268F5"/>
                </a:solidFill>
              </a:rPr>
              <a:t>있는</a:t>
            </a:r>
            <a:r>
              <a:rPr sz="2250" b="1" dirty="0">
                <a:solidFill>
                  <a:srgbClr val="4268F5"/>
                </a:solidFill>
              </a:rPr>
              <a:t> </a:t>
            </a:r>
            <a:r>
              <a:rPr sz="2250" b="1" dirty="0" err="1">
                <a:solidFill>
                  <a:srgbClr val="4268F5"/>
                </a:solidFill>
              </a:rPr>
              <a:t>동네는</a:t>
            </a:r>
            <a:r>
              <a:rPr sz="2250" b="1" dirty="0">
                <a:solidFill>
                  <a:srgbClr val="4268F5"/>
                </a:solidFill>
              </a:rPr>
              <a:t> </a:t>
            </a:r>
            <a:r>
              <a:rPr sz="2250" b="1" dirty="0" err="1">
                <a:solidFill>
                  <a:srgbClr val="4268F5"/>
                </a:solidFill>
              </a:rPr>
              <a:t>어디일까</a:t>
            </a:r>
            <a:r>
              <a:rPr sz="2250" b="1" dirty="0">
                <a:solidFill>
                  <a:srgbClr val="4268F5"/>
                </a:solidFill>
              </a:rPr>
              <a:t>?”</a:t>
            </a:r>
          </a:p>
        </p:txBody>
      </p:sp>
    </p:spTree>
    <p:extLst>
      <p:ext uri="{BB962C8B-B14F-4D97-AF65-F5344CB8AC3E}">
        <p14:creationId xmlns:p14="http://schemas.microsoft.com/office/powerpoint/2010/main" val="1038612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8B60D5A-C592-3336-7731-8A5AFDDE95AE}"/>
              </a:ext>
            </a:extLst>
          </p:cNvPr>
          <p:cNvSpPr/>
          <p:nvPr/>
        </p:nvSpPr>
        <p:spPr>
          <a:xfrm>
            <a:off x="8277533" y="2706941"/>
            <a:ext cx="2689123" cy="185829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B4169CE-17A7-77E1-1CF4-28B59D3AB35C}"/>
              </a:ext>
            </a:extLst>
          </p:cNvPr>
          <p:cNvSpPr/>
          <p:nvPr/>
        </p:nvSpPr>
        <p:spPr>
          <a:xfrm>
            <a:off x="4563397" y="2706943"/>
            <a:ext cx="2874706" cy="185829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F04CD72-E9EA-BDBE-C6BC-DFABDEDF42CF}"/>
              </a:ext>
            </a:extLst>
          </p:cNvPr>
          <p:cNvSpPr/>
          <p:nvPr/>
        </p:nvSpPr>
        <p:spPr>
          <a:xfrm>
            <a:off x="849262" y="2706941"/>
            <a:ext cx="2874705" cy="185829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B795E50-D908-4EAD-A4F7-662671599540}"/>
              </a:ext>
            </a:extLst>
          </p:cNvPr>
          <p:cNvSpPr>
            <a:spLocks noGrp="1"/>
          </p:cNvSpPr>
          <p:nvPr/>
        </p:nvSpPr>
        <p:spPr>
          <a:xfrm>
            <a:off x="666750" y="4381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4268F5"/>
                </a:solidFill>
              </a:defRPr>
            </a:pPr>
            <a:r>
              <a:rPr sz="1050" b="1">
                <a:solidFill>
                  <a:srgbClr val="4268F5"/>
                </a:solidFill>
              </a:rPr>
              <a:t>02 · SOLUTION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ED8B6A4-0198-4F37-8FB3-4211DB6F2113}"/>
              </a:ext>
            </a:extLst>
          </p:cNvPr>
          <p:cNvSpPr>
            <a:spLocks noGrp="1"/>
          </p:cNvSpPr>
          <p:nvPr/>
        </p:nvSpPr>
        <p:spPr>
          <a:xfrm>
            <a:off x="666750" y="85725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72B4D"/>
                </a:solidFill>
              </a:defRPr>
            </a:pPr>
            <a:r>
              <a:rPr sz="2850" b="1">
                <a:solidFill>
                  <a:srgbClr val="172B4D"/>
                </a:solidFill>
              </a:rPr>
              <a:t>우리는 장소가 아니라 “다음 동네”를 추천합니다.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DB5DC85-F96A-47CC-9CA3-EDFC872F315C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1066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72B4D"/>
                </a:solidFill>
              </a:defRPr>
            </a:pPr>
            <a:r>
              <a:rPr sz="1950" b="1">
                <a:solidFill>
                  <a:srgbClr val="172B4D"/>
                </a:solidFill>
              </a:rPr>
              <a:t>상황 입력 → 지역 변화 신호 분석 → 지도 후보 비교 → 근거·예산·혼잡도 확인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8FE7803-5C49-4157-97B4-C3A54974DCFA}"/>
              </a:ext>
            </a:extLst>
          </p:cNvPr>
          <p:cNvSpPr>
            <a:spLocks noGrp="1"/>
          </p:cNvSpPr>
          <p:nvPr/>
        </p:nvSpPr>
        <p:spPr>
          <a:xfrm>
            <a:off x="1100291" y="3143248"/>
            <a:ext cx="2476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4268F5"/>
                </a:solidFill>
              </a:defRPr>
            </a:pPr>
            <a:r>
              <a:rPr sz="1950" b="1" dirty="0" err="1">
                <a:solidFill>
                  <a:srgbClr val="4268F5"/>
                </a:solidFill>
              </a:rPr>
              <a:t>조용한</a:t>
            </a:r>
            <a:r>
              <a:rPr sz="1950" b="1" dirty="0">
                <a:solidFill>
                  <a:srgbClr val="4268F5"/>
                </a:solidFill>
              </a:rPr>
              <a:t> </a:t>
            </a:r>
            <a:r>
              <a:rPr sz="1950" b="1" dirty="0" err="1">
                <a:solidFill>
                  <a:srgbClr val="4268F5"/>
                </a:solidFill>
              </a:rPr>
              <a:t>데이트</a:t>
            </a:r>
            <a:endParaRPr sz="1950" b="1" dirty="0">
              <a:solidFill>
                <a:srgbClr val="4268F5"/>
              </a:solidFill>
            </a:endParaRPr>
          </a:p>
          <a:p>
            <a:pPr algn="ctr">
              <a:defRPr sz="1950" b="1">
                <a:solidFill>
                  <a:srgbClr val="4268F5"/>
                </a:solidFill>
              </a:defRPr>
            </a:pPr>
            <a:r>
              <a:rPr sz="1950" b="1" dirty="0" err="1">
                <a:solidFill>
                  <a:srgbClr val="4268F5"/>
                </a:solidFill>
              </a:rPr>
              <a:t>카페와</a:t>
            </a:r>
            <a:r>
              <a:rPr sz="1950" b="1" dirty="0">
                <a:solidFill>
                  <a:srgbClr val="4268F5"/>
                </a:solidFill>
              </a:rPr>
              <a:t> </a:t>
            </a:r>
            <a:r>
              <a:rPr sz="1950" b="1" dirty="0" err="1">
                <a:solidFill>
                  <a:srgbClr val="4268F5"/>
                </a:solidFill>
              </a:rPr>
              <a:t>산책</a:t>
            </a:r>
            <a:endParaRPr sz="1950" b="1" dirty="0">
              <a:solidFill>
                <a:srgbClr val="4268F5"/>
              </a:solidFill>
            </a:endParaRPr>
          </a:p>
          <a:p>
            <a:pPr algn="ctr">
              <a:defRPr sz="1950" b="1">
                <a:solidFill>
                  <a:srgbClr val="4268F5"/>
                </a:solidFill>
              </a:defRPr>
            </a:pPr>
            <a:r>
              <a:rPr sz="1950" b="1" dirty="0" err="1">
                <a:solidFill>
                  <a:srgbClr val="4268F5"/>
                </a:solidFill>
              </a:rPr>
              <a:t>새로운</a:t>
            </a:r>
            <a:r>
              <a:rPr sz="1950" b="1" dirty="0">
                <a:solidFill>
                  <a:srgbClr val="4268F5"/>
                </a:solidFill>
              </a:rPr>
              <a:t> </a:t>
            </a:r>
            <a:r>
              <a:rPr sz="1950" b="1" dirty="0" err="1">
                <a:solidFill>
                  <a:srgbClr val="4268F5"/>
                </a:solidFill>
              </a:rPr>
              <a:t>동네</a:t>
            </a:r>
            <a:endParaRPr sz="1950" b="1" dirty="0">
              <a:solidFill>
                <a:srgbClr val="4268F5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1A49C4D-97AE-468D-92A0-3A5E170B9740}"/>
              </a:ext>
            </a:extLst>
          </p:cNvPr>
          <p:cNvSpPr>
            <a:spLocks noGrp="1"/>
          </p:cNvSpPr>
          <p:nvPr/>
        </p:nvSpPr>
        <p:spPr>
          <a:xfrm>
            <a:off x="4476750" y="3143250"/>
            <a:ext cx="3048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2B4D"/>
                </a:solidFill>
              </a:defRPr>
            </a:pPr>
            <a:r>
              <a:rPr lang="en-US" sz="1800" b="1" dirty="0">
                <a:solidFill>
                  <a:srgbClr val="172B4D"/>
                </a:solidFill>
              </a:rPr>
              <a:t>&lt;</a:t>
            </a:r>
            <a:r>
              <a:rPr sz="1800" b="1" dirty="0" err="1">
                <a:solidFill>
                  <a:srgbClr val="172B4D"/>
                </a:solidFill>
              </a:rPr>
              <a:t>변화</a:t>
            </a:r>
            <a:r>
              <a:rPr sz="1800" b="1" dirty="0">
                <a:solidFill>
                  <a:srgbClr val="172B4D"/>
                </a:solidFill>
              </a:rPr>
              <a:t> </a:t>
            </a:r>
            <a:r>
              <a:rPr sz="1800" b="1" dirty="0" err="1">
                <a:solidFill>
                  <a:srgbClr val="172B4D"/>
                </a:solidFill>
              </a:rPr>
              <a:t>레이더</a:t>
            </a:r>
            <a:r>
              <a:rPr lang="en-US" sz="1800" b="1" dirty="0">
                <a:solidFill>
                  <a:srgbClr val="172B4D"/>
                </a:solidFill>
              </a:rPr>
              <a:t>&gt;</a:t>
            </a:r>
            <a:endParaRPr sz="1800" b="1" dirty="0">
              <a:solidFill>
                <a:srgbClr val="172B4D"/>
              </a:solidFill>
            </a:endParaRPr>
          </a:p>
          <a:p>
            <a:pPr algn="ctr">
              <a:defRPr sz="1800" b="1">
                <a:solidFill>
                  <a:srgbClr val="172B4D"/>
                </a:solidFill>
              </a:defRPr>
            </a:pPr>
            <a:r>
              <a:rPr sz="1800" b="1" dirty="0" err="1">
                <a:solidFill>
                  <a:srgbClr val="172B4D"/>
                </a:solidFill>
              </a:rPr>
              <a:t>신규</a:t>
            </a:r>
            <a:r>
              <a:rPr sz="1800" b="1" dirty="0">
                <a:solidFill>
                  <a:srgbClr val="172B4D"/>
                </a:solidFill>
              </a:rPr>
              <a:t> </a:t>
            </a:r>
            <a:r>
              <a:rPr sz="1800" b="1" dirty="0" err="1">
                <a:solidFill>
                  <a:srgbClr val="172B4D"/>
                </a:solidFill>
              </a:rPr>
              <a:t>설치</a:t>
            </a:r>
            <a:r>
              <a:rPr sz="1800" b="1" dirty="0">
                <a:solidFill>
                  <a:srgbClr val="172B4D"/>
                </a:solidFill>
              </a:rPr>
              <a:t> · </a:t>
            </a:r>
            <a:r>
              <a:rPr sz="1800" b="1" dirty="0" err="1">
                <a:solidFill>
                  <a:srgbClr val="172B4D"/>
                </a:solidFill>
              </a:rPr>
              <a:t>생활인구</a:t>
            </a:r>
            <a:endParaRPr sz="1800" b="1" dirty="0">
              <a:solidFill>
                <a:srgbClr val="172B4D"/>
              </a:solidFill>
            </a:endParaRPr>
          </a:p>
          <a:p>
            <a:pPr algn="ctr">
              <a:defRPr sz="1800" b="1">
                <a:solidFill>
                  <a:srgbClr val="172B4D"/>
                </a:solidFill>
              </a:defRPr>
            </a:pPr>
            <a:r>
              <a:rPr sz="1800" b="1" dirty="0" err="1">
                <a:solidFill>
                  <a:srgbClr val="172B4D"/>
                </a:solidFill>
              </a:rPr>
              <a:t>상권</a:t>
            </a:r>
            <a:r>
              <a:rPr sz="1800" b="1" dirty="0">
                <a:solidFill>
                  <a:srgbClr val="172B4D"/>
                </a:solidFill>
              </a:rPr>
              <a:t> </a:t>
            </a:r>
            <a:r>
              <a:rPr sz="1800" b="1" dirty="0" err="1">
                <a:solidFill>
                  <a:srgbClr val="172B4D"/>
                </a:solidFill>
              </a:rPr>
              <a:t>순증</a:t>
            </a:r>
            <a:r>
              <a:rPr sz="1800" b="1" dirty="0">
                <a:solidFill>
                  <a:srgbClr val="172B4D"/>
                </a:solidFill>
              </a:rPr>
              <a:t> · </a:t>
            </a:r>
            <a:r>
              <a:rPr sz="1800" b="1" dirty="0" err="1">
                <a:solidFill>
                  <a:srgbClr val="172B4D"/>
                </a:solidFill>
              </a:rPr>
              <a:t>문화공간</a:t>
            </a:r>
            <a:endParaRPr sz="1800" b="1" dirty="0">
              <a:solidFill>
                <a:srgbClr val="172B4D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D52768F-A7DA-431D-BFA8-F631D29993D5}"/>
              </a:ext>
            </a:extLst>
          </p:cNvPr>
          <p:cNvSpPr>
            <a:spLocks noGrp="1"/>
          </p:cNvSpPr>
          <p:nvPr/>
        </p:nvSpPr>
        <p:spPr>
          <a:xfrm>
            <a:off x="8436078" y="3143249"/>
            <a:ext cx="2476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4268F5"/>
                </a:solidFill>
              </a:defRPr>
            </a:pPr>
            <a:r>
              <a:rPr lang="en-US" sz="1800" b="1" dirty="0">
                <a:solidFill>
                  <a:srgbClr val="4268F5"/>
                </a:solidFill>
              </a:rPr>
              <a:t>&lt;</a:t>
            </a:r>
            <a:r>
              <a:rPr sz="1800" b="1" dirty="0">
                <a:solidFill>
                  <a:srgbClr val="4268F5"/>
                </a:solidFill>
              </a:rPr>
              <a:t>NEXT SPOT</a:t>
            </a:r>
            <a:r>
              <a:rPr lang="en-US" sz="1800" b="1" dirty="0">
                <a:solidFill>
                  <a:srgbClr val="4268F5"/>
                </a:solidFill>
              </a:rPr>
              <a:t>&gt;</a:t>
            </a:r>
            <a:endParaRPr sz="1800" b="1" dirty="0">
              <a:solidFill>
                <a:srgbClr val="4268F5"/>
              </a:solidFill>
            </a:endParaRPr>
          </a:p>
          <a:p>
            <a:pPr algn="ctr">
              <a:defRPr sz="1800" b="1">
                <a:solidFill>
                  <a:srgbClr val="4268F5"/>
                </a:solidFill>
              </a:defRPr>
            </a:pPr>
            <a:r>
              <a:rPr sz="1800" b="1" dirty="0" err="1">
                <a:solidFill>
                  <a:srgbClr val="4268F5"/>
                </a:solidFill>
              </a:rPr>
              <a:t>점수</a:t>
            </a:r>
            <a:r>
              <a:rPr sz="1800" b="1" dirty="0">
                <a:solidFill>
                  <a:srgbClr val="4268F5"/>
                </a:solidFill>
              </a:rPr>
              <a:t> + </a:t>
            </a:r>
            <a:r>
              <a:rPr sz="1800" b="1" dirty="0" err="1">
                <a:solidFill>
                  <a:srgbClr val="4268F5"/>
                </a:solidFill>
              </a:rPr>
              <a:t>추천</a:t>
            </a:r>
            <a:r>
              <a:rPr sz="1800" b="1" dirty="0">
                <a:solidFill>
                  <a:srgbClr val="4268F5"/>
                </a:solidFill>
              </a:rPr>
              <a:t> </a:t>
            </a:r>
            <a:r>
              <a:rPr sz="1800" b="1" dirty="0" err="1">
                <a:solidFill>
                  <a:srgbClr val="4268F5"/>
                </a:solidFill>
              </a:rPr>
              <a:t>이유</a:t>
            </a:r>
            <a:endParaRPr sz="1800" b="1" dirty="0">
              <a:solidFill>
                <a:srgbClr val="4268F5"/>
              </a:solidFill>
            </a:endParaRPr>
          </a:p>
          <a:p>
            <a:pPr algn="ctr">
              <a:defRPr sz="1800" b="1">
                <a:solidFill>
                  <a:srgbClr val="4268F5"/>
                </a:solidFill>
              </a:defRPr>
            </a:pPr>
            <a:r>
              <a:rPr sz="1800" b="1" dirty="0" err="1">
                <a:solidFill>
                  <a:srgbClr val="4268F5"/>
                </a:solidFill>
              </a:rPr>
              <a:t>예산</a:t>
            </a:r>
            <a:r>
              <a:rPr sz="1800" b="1" dirty="0">
                <a:solidFill>
                  <a:srgbClr val="4268F5"/>
                </a:solidFill>
              </a:rPr>
              <a:t> + </a:t>
            </a:r>
            <a:r>
              <a:rPr sz="1800" b="1" dirty="0" err="1">
                <a:solidFill>
                  <a:srgbClr val="4268F5"/>
                </a:solidFill>
              </a:rPr>
              <a:t>혼잡도</a:t>
            </a:r>
            <a:endParaRPr sz="1800" b="1" dirty="0">
              <a:solidFill>
                <a:srgbClr val="4268F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828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F33F649-986D-EBA9-F51F-626E3C90BA3D}"/>
              </a:ext>
            </a:extLst>
          </p:cNvPr>
          <p:cNvSpPr/>
          <p:nvPr/>
        </p:nvSpPr>
        <p:spPr>
          <a:xfrm>
            <a:off x="374547" y="3714751"/>
            <a:ext cx="4010640" cy="140785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B8AC322-BC0D-444E-B3F7-2387B9BAB6A4}"/>
              </a:ext>
            </a:extLst>
          </p:cNvPr>
          <p:cNvSpPr>
            <a:spLocks noGrp="1"/>
          </p:cNvSpPr>
          <p:nvPr/>
        </p:nvSpPr>
        <p:spPr>
          <a:xfrm>
            <a:off x="666750" y="4381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4268F5"/>
                </a:solidFill>
              </a:defRPr>
            </a:pPr>
            <a:r>
              <a:rPr sz="1050" b="1">
                <a:solidFill>
                  <a:srgbClr val="4268F5"/>
                </a:solidFill>
              </a:rPr>
              <a:t>03 · DATA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D94FF4F-55D0-4E19-8CE9-A4AC3719CD53}"/>
              </a:ext>
            </a:extLst>
          </p:cNvPr>
          <p:cNvSpPr>
            <a:spLocks noGrp="1"/>
          </p:cNvSpPr>
          <p:nvPr/>
        </p:nvSpPr>
        <p:spPr>
          <a:xfrm>
            <a:off x="666750" y="85725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72B4D"/>
                </a:solidFill>
              </a:defRPr>
            </a:pPr>
            <a:r>
              <a:rPr sz="2850" b="1">
                <a:solidFill>
                  <a:srgbClr val="172B4D"/>
                </a:solidFill>
              </a:rPr>
              <a:t>아정당 데이터로 지역 변화의 초기 신호를 포착합니다.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3090320-F5B4-4C82-85CF-365BEED4D842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4268F5"/>
                </a:solidFill>
              </a:defRPr>
            </a:pPr>
            <a:r>
              <a:rPr sz="1800" b="1">
                <a:solidFill>
                  <a:srgbClr val="4268F5"/>
                </a:solidFill>
              </a:rPr>
              <a:t>적용 데이터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63B4659-F907-4340-A29C-72D8B573A681}"/>
              </a:ext>
            </a:extLst>
          </p:cNvPr>
          <p:cNvSpPr>
            <a:spLocks noGrp="1"/>
          </p:cNvSpPr>
          <p:nvPr/>
        </p:nvSpPr>
        <p:spPr>
          <a:xfrm>
            <a:off x="666750" y="2286000"/>
            <a:ext cx="4095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>
                <a:solidFill>
                  <a:srgbClr val="172B4D"/>
                </a:solidFill>
              </a:defRPr>
            </a:pPr>
            <a:r>
              <a:rPr sz="1800" b="0">
                <a:solidFill>
                  <a:srgbClr val="172B4D"/>
                </a:solidFill>
              </a:rPr>
              <a:t>05_regional_new_install.csv</a:t>
            </a:r>
          </a:p>
          <a:p>
            <a:pPr>
              <a:defRPr sz="1800" b="0">
                <a:solidFill>
                  <a:srgbClr val="172B4D"/>
                </a:solidFill>
              </a:defRPr>
            </a:pPr>
            <a:r>
              <a:rPr sz="1800" b="0">
                <a:solidFill>
                  <a:srgbClr val="172B4D"/>
                </a:solidFill>
              </a:rPr>
              <a:t>지역 × 월별 인터넷 계약·개통 집계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1AC4ECD-BA26-4A6F-B149-04908573B77F}"/>
              </a:ext>
            </a:extLst>
          </p:cNvPr>
          <p:cNvSpPr>
            <a:spLocks noGrp="1"/>
          </p:cNvSpPr>
          <p:nvPr/>
        </p:nvSpPr>
        <p:spPr>
          <a:xfrm>
            <a:off x="5619750" y="180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4268F5"/>
                </a:solidFill>
              </a:defRPr>
            </a:pPr>
            <a:r>
              <a:rPr sz="1800" b="1">
                <a:solidFill>
                  <a:srgbClr val="4268F5"/>
                </a:solidFill>
              </a:rPr>
              <a:t>활용 방식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773A74-E592-4ED4-A5B9-15EF67B250E9}"/>
              </a:ext>
            </a:extLst>
          </p:cNvPr>
          <p:cNvSpPr>
            <a:spLocks noGrp="1"/>
          </p:cNvSpPr>
          <p:nvPr/>
        </p:nvSpPr>
        <p:spPr>
          <a:xfrm>
            <a:off x="5619750" y="2286000"/>
            <a:ext cx="5143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최신월과 직전월의 신규 인터넷 계약 건수와 증감률을 계산하고, 자치구에 매핑해 변화 점수에 반영합니다.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B6D5EC-0B45-472A-A510-4A7BE5794474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476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4268F5"/>
                </a:solidFill>
              </a:defRPr>
            </a:pPr>
            <a:r>
              <a:rPr sz="2100" b="1">
                <a:solidFill>
                  <a:srgbClr val="4268F5"/>
                </a:solidFill>
              </a:rPr>
              <a:t>예: 서대문구 229건 → 238건</a:t>
            </a:r>
          </a:p>
          <a:p>
            <a:pPr>
              <a:defRPr sz="2100" b="1">
                <a:solidFill>
                  <a:srgbClr val="4268F5"/>
                </a:solidFill>
              </a:defRPr>
            </a:pPr>
            <a:r>
              <a:rPr sz="2100" b="1">
                <a:solidFill>
                  <a:srgbClr val="4268F5"/>
                </a:solidFill>
              </a:rPr>
              <a:t>신규 설치 +3.9%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6DCDD21-7A60-486D-AF67-457EA25CDD7D}"/>
              </a:ext>
            </a:extLst>
          </p:cNvPr>
          <p:cNvSpPr>
            <a:spLocks noGrp="1"/>
          </p:cNvSpPr>
          <p:nvPr/>
        </p:nvSpPr>
        <p:spPr>
          <a:xfrm>
            <a:off x="5619750" y="4238625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637083"/>
                </a:solidFill>
              </a:defRPr>
            </a:pPr>
            <a:r>
              <a:rPr sz="1350" b="0">
                <a:solidFill>
                  <a:srgbClr val="637083"/>
                </a:solidFill>
              </a:rPr>
              <a:t>주의: 인터넷 신규 설치는 이사·신규 가구 유입의 보조 신호입니다.</a:t>
            </a:r>
          </a:p>
        </p:txBody>
      </p:sp>
    </p:spTree>
    <p:extLst>
      <p:ext uri="{BB962C8B-B14F-4D97-AF65-F5344CB8AC3E}">
        <p14:creationId xmlns:p14="http://schemas.microsoft.com/office/powerpoint/2010/main" val="438544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5C89D99-BF40-2098-CB38-DADF50E9390B}"/>
              </a:ext>
            </a:extLst>
          </p:cNvPr>
          <p:cNvSpPr/>
          <p:nvPr/>
        </p:nvSpPr>
        <p:spPr>
          <a:xfrm>
            <a:off x="8191500" y="1938183"/>
            <a:ext cx="2687893" cy="181773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4ED3970-4945-A0D7-2E11-BD95CAA5CF4E}"/>
              </a:ext>
            </a:extLst>
          </p:cNvPr>
          <p:cNvSpPr/>
          <p:nvPr/>
        </p:nvSpPr>
        <p:spPr>
          <a:xfrm>
            <a:off x="4381500" y="1938184"/>
            <a:ext cx="2687894" cy="181773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0675FE3-D9CA-FC6C-067A-0B2CCC17A585}"/>
              </a:ext>
            </a:extLst>
          </p:cNvPr>
          <p:cNvSpPr/>
          <p:nvPr/>
        </p:nvSpPr>
        <p:spPr>
          <a:xfrm>
            <a:off x="707921" y="1938183"/>
            <a:ext cx="2857499" cy="181773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4E88F39-8C24-40C4-85F2-483A61F44C2D}"/>
              </a:ext>
            </a:extLst>
          </p:cNvPr>
          <p:cNvSpPr>
            <a:spLocks noGrp="1"/>
          </p:cNvSpPr>
          <p:nvPr/>
        </p:nvSpPr>
        <p:spPr>
          <a:xfrm>
            <a:off x="666750" y="4381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4268F5"/>
                </a:solidFill>
              </a:defRPr>
            </a:pPr>
            <a:r>
              <a:rPr sz="1050" b="1">
                <a:solidFill>
                  <a:srgbClr val="4268F5"/>
                </a:solidFill>
              </a:rPr>
              <a:t>04 · SCORE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01B417B-A519-46FB-B9EF-43B80CFA7E58}"/>
              </a:ext>
            </a:extLst>
          </p:cNvPr>
          <p:cNvSpPr>
            <a:spLocks noGrp="1"/>
          </p:cNvSpPr>
          <p:nvPr/>
        </p:nvSpPr>
        <p:spPr>
          <a:xfrm>
            <a:off x="666750" y="85725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72B4D"/>
                </a:solidFill>
              </a:defRPr>
            </a:pPr>
            <a:r>
              <a:rPr sz="2850" b="1">
                <a:solidFill>
                  <a:srgbClr val="172B4D"/>
                </a:solidFill>
              </a:rPr>
              <a:t>점수는 예측이 아니라, 근거를 공개하는 휴리스틱입니다.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9D7C65C-1344-465F-B4CF-81143907C930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2857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4268F5"/>
                </a:solidFill>
              </a:defRPr>
            </a:pPr>
            <a:r>
              <a:rPr sz="2100" b="1">
                <a:solidFill>
                  <a:srgbClr val="4268F5"/>
                </a:solidFill>
              </a:rPr>
              <a:t>변화 점수 50%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557ADA-009F-4774-9587-409137B92537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314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637083"/>
                </a:solidFill>
              </a:defRPr>
            </a:pPr>
            <a:r>
              <a:rPr sz="1425" b="0">
                <a:solidFill>
                  <a:srgbClr val="637083"/>
                </a:solidFill>
              </a:rPr>
              <a:t>신규 설치 · 인구·세대 · 입주</a:t>
            </a:r>
          </a:p>
          <a:p>
            <a:pPr>
              <a:defRPr sz="1425" b="0">
                <a:solidFill>
                  <a:srgbClr val="637083"/>
                </a:solidFill>
              </a:defRPr>
            </a:pPr>
            <a:r>
              <a:rPr sz="1425" b="0">
                <a:solidFill>
                  <a:srgbClr val="637083"/>
                </a:solidFill>
              </a:rPr>
              <a:t>신규 점포 · 생활인구 · 문화공간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29D8576-A508-4718-8211-ECD867A4FA14}"/>
              </a:ext>
            </a:extLst>
          </p:cNvPr>
          <p:cNvSpPr>
            <a:spLocks noGrp="1"/>
          </p:cNvSpPr>
          <p:nvPr/>
        </p:nvSpPr>
        <p:spPr>
          <a:xfrm>
            <a:off x="4667250" y="2095500"/>
            <a:ext cx="2857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4268F5"/>
                </a:solidFill>
              </a:defRPr>
            </a:pPr>
            <a:r>
              <a:rPr sz="2100" b="1">
                <a:solidFill>
                  <a:srgbClr val="4268F5"/>
                </a:solidFill>
              </a:rPr>
              <a:t>발견 점수 30%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3E9FA7E-CF2D-4966-81C3-DACB3A7B99EC}"/>
              </a:ext>
            </a:extLst>
          </p:cNvPr>
          <p:cNvSpPr>
            <a:spLocks noGrp="1"/>
          </p:cNvSpPr>
          <p:nvPr/>
        </p:nvSpPr>
        <p:spPr>
          <a:xfrm>
            <a:off x="4667250" y="3000375"/>
            <a:ext cx="2857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637083"/>
                </a:solidFill>
              </a:defRPr>
            </a:pPr>
            <a:r>
              <a:rPr sz="1425" b="0">
                <a:solidFill>
                  <a:srgbClr val="637083"/>
                </a:solidFill>
              </a:rPr>
              <a:t>업종 다양성 · 과밀 회피</a:t>
            </a:r>
          </a:p>
          <a:p>
            <a:pPr>
              <a:defRPr sz="1425" b="0">
                <a:solidFill>
                  <a:srgbClr val="637083"/>
                </a:solidFill>
              </a:defRPr>
            </a:pPr>
            <a:r>
              <a:rPr sz="1425" b="0">
                <a:solidFill>
                  <a:srgbClr val="637083"/>
                </a:solidFill>
              </a:rPr>
              <a:t>혼잡도 페널티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9925727-83A4-49E8-8C77-A5781A1CB9B8}"/>
              </a:ext>
            </a:extLst>
          </p:cNvPr>
          <p:cNvSpPr>
            <a:spLocks noGrp="1"/>
          </p:cNvSpPr>
          <p:nvPr/>
        </p:nvSpPr>
        <p:spPr>
          <a:xfrm>
            <a:off x="8477250" y="2095500"/>
            <a:ext cx="2857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4268F5"/>
                </a:solidFill>
              </a:defRPr>
            </a:pPr>
            <a:r>
              <a:rPr sz="2100" b="1">
                <a:solidFill>
                  <a:srgbClr val="4268F5"/>
                </a:solidFill>
              </a:rPr>
              <a:t>방문 적합 20%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C7C987E-47E1-414A-9BA7-163A3D3F5AA4}"/>
              </a:ext>
            </a:extLst>
          </p:cNvPr>
          <p:cNvSpPr>
            <a:spLocks noGrp="1"/>
          </p:cNvSpPr>
          <p:nvPr/>
        </p:nvSpPr>
        <p:spPr>
          <a:xfrm>
            <a:off x="8477250" y="3000375"/>
            <a:ext cx="2857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637083"/>
                </a:solidFill>
              </a:defRPr>
            </a:pPr>
            <a:r>
              <a:rPr sz="1425" b="0">
                <a:solidFill>
                  <a:srgbClr val="637083"/>
                </a:solidFill>
              </a:rPr>
              <a:t>혼잡도 · 생활 동선</a:t>
            </a:r>
          </a:p>
          <a:p>
            <a:pPr>
              <a:defRPr sz="1425" b="0">
                <a:solidFill>
                  <a:srgbClr val="637083"/>
                </a:solidFill>
              </a:defRPr>
            </a:pPr>
            <a:r>
              <a:rPr sz="1425" b="0">
                <a:solidFill>
                  <a:srgbClr val="637083"/>
                </a:solidFill>
              </a:rPr>
              <a:t>카페·식사·문화 연결성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A9ECD10-5A1A-4696-A3E1-A2F553837CB8}"/>
              </a:ext>
            </a:extLst>
          </p:cNvPr>
          <p:cNvSpPr>
            <a:spLocks noGrp="1"/>
          </p:cNvSpPr>
          <p:nvPr/>
        </p:nvSpPr>
        <p:spPr>
          <a:xfrm>
            <a:off x="857250" y="4762500"/>
            <a:ext cx="9525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72B4D"/>
                </a:solidFill>
              </a:defRPr>
            </a:pPr>
            <a:r>
              <a:rPr sz="1875" b="1">
                <a:solidFill>
                  <a:srgbClr val="172B4D"/>
                </a:solidFill>
              </a:rPr>
              <a:t>NEXT SPOT SCORE = 변화 0.5 + 발견 0.3 + 방문 적합 0.2</a:t>
            </a:r>
          </a:p>
        </p:txBody>
      </p:sp>
    </p:spTree>
    <p:extLst>
      <p:ext uri="{BB962C8B-B14F-4D97-AF65-F5344CB8AC3E}">
        <p14:creationId xmlns:p14="http://schemas.microsoft.com/office/powerpoint/2010/main" val="57207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7A957CD-3612-9234-DEAC-41B3E728DF82}"/>
              </a:ext>
            </a:extLst>
          </p:cNvPr>
          <p:cNvSpPr/>
          <p:nvPr/>
        </p:nvSpPr>
        <p:spPr>
          <a:xfrm>
            <a:off x="4740687" y="1860139"/>
            <a:ext cx="3311935" cy="206231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62E25B9-12BE-07C0-5616-18325A52A10B}"/>
              </a:ext>
            </a:extLst>
          </p:cNvPr>
          <p:cNvSpPr/>
          <p:nvPr/>
        </p:nvSpPr>
        <p:spPr>
          <a:xfrm>
            <a:off x="666749" y="1938183"/>
            <a:ext cx="3472631" cy="190622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DFB4363-8DFA-4C3C-9094-EC063E6F78AD}"/>
              </a:ext>
            </a:extLst>
          </p:cNvPr>
          <p:cNvSpPr>
            <a:spLocks noGrp="1"/>
          </p:cNvSpPr>
          <p:nvPr/>
        </p:nvSpPr>
        <p:spPr>
          <a:xfrm>
            <a:off x="666750" y="4381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4268F5"/>
                </a:solidFill>
              </a:defRPr>
            </a:pPr>
            <a:r>
              <a:rPr sz="1050" b="1">
                <a:solidFill>
                  <a:srgbClr val="4268F5"/>
                </a:solidFill>
              </a:rPr>
              <a:t>05 · TARGET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652463B-FDC3-4B19-93B1-9CE8E72BCC74}"/>
              </a:ext>
            </a:extLst>
          </p:cNvPr>
          <p:cNvSpPr>
            <a:spLocks noGrp="1"/>
          </p:cNvSpPr>
          <p:nvPr/>
        </p:nvSpPr>
        <p:spPr>
          <a:xfrm>
            <a:off x="666750" y="85725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72B4D"/>
                </a:solidFill>
              </a:defRPr>
            </a:pPr>
            <a:r>
              <a:rPr sz="2850" b="1">
                <a:solidFill>
                  <a:srgbClr val="172B4D"/>
                </a:solidFill>
              </a:rPr>
              <a:t>서울의 20~34세, 조용하지만 새로운 경험을 원하는 사람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34E8247-F51F-41D0-AA4E-8D948100985C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238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4268F5"/>
                </a:solidFill>
              </a:defRPr>
            </a:pPr>
            <a:r>
              <a:rPr sz="1950" b="1">
                <a:solidFill>
                  <a:srgbClr val="4268F5"/>
                </a:solidFill>
              </a:rPr>
              <a:t>1차 타깃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4ECF45F-E1F2-4E7D-BD3E-052DDE992DB8}"/>
              </a:ext>
            </a:extLst>
          </p:cNvPr>
          <p:cNvSpPr>
            <a:spLocks noGrp="1"/>
          </p:cNvSpPr>
          <p:nvPr/>
        </p:nvSpPr>
        <p:spPr>
          <a:xfrm>
            <a:off x="762000" y="2571750"/>
            <a:ext cx="3619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서울 직장인·대학생</a:t>
            </a:r>
          </a:p>
          <a:p>
            <a:pPr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혼자 또는 소수 친구</a:t>
            </a:r>
          </a:p>
          <a:p>
            <a:pPr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인스타그램으로 분위기 탐색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319D951-7627-4FB3-AC5A-AB02DEFF2791}"/>
              </a:ext>
            </a:extLst>
          </p:cNvPr>
          <p:cNvSpPr>
            <a:spLocks noGrp="1"/>
          </p:cNvSpPr>
          <p:nvPr/>
        </p:nvSpPr>
        <p:spPr>
          <a:xfrm>
            <a:off x="4857750" y="2000250"/>
            <a:ext cx="238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4268F5"/>
                </a:solidFill>
              </a:defRPr>
            </a:pPr>
            <a:r>
              <a:rPr sz="1950" b="1">
                <a:solidFill>
                  <a:srgbClr val="4268F5"/>
                </a:solidFill>
              </a:rPr>
              <a:t>핵심 상황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08E8863-39CC-4602-AD3E-FD7ED39AC4EF}"/>
              </a:ext>
            </a:extLst>
          </p:cNvPr>
          <p:cNvSpPr>
            <a:spLocks noGrp="1"/>
          </p:cNvSpPr>
          <p:nvPr/>
        </p:nvSpPr>
        <p:spPr>
          <a:xfrm>
            <a:off x="4857750" y="2571750"/>
            <a:ext cx="4953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>
                <a:solidFill>
                  <a:srgbClr val="172B4D"/>
                </a:solidFill>
              </a:defRPr>
            </a:pPr>
            <a:r>
              <a:rPr sz="1800" b="0">
                <a:solidFill>
                  <a:srgbClr val="172B4D"/>
                </a:solidFill>
              </a:rPr>
              <a:t>퇴근 후 조용한 휴식</a:t>
            </a:r>
          </a:p>
          <a:p>
            <a:pPr>
              <a:defRPr sz="1800" b="0">
                <a:solidFill>
                  <a:srgbClr val="172B4D"/>
                </a:solidFill>
              </a:defRPr>
            </a:pPr>
            <a:r>
              <a:rPr sz="1800" b="0">
                <a:solidFill>
                  <a:srgbClr val="172B4D"/>
                </a:solidFill>
              </a:rPr>
              <a:t>주말 데이트</a:t>
            </a:r>
          </a:p>
          <a:p>
            <a:pPr>
              <a:defRPr sz="1800" b="0">
                <a:solidFill>
                  <a:srgbClr val="172B4D"/>
                </a:solidFill>
              </a:defRPr>
            </a:pPr>
            <a:r>
              <a:rPr sz="1800" b="0">
                <a:solidFill>
                  <a:srgbClr val="172B4D"/>
                </a:solidFill>
              </a:rPr>
              <a:t>유명 핫플의 대기 회피</a:t>
            </a:r>
          </a:p>
          <a:p>
            <a:pPr>
              <a:defRPr sz="1800" b="0">
                <a:solidFill>
                  <a:srgbClr val="172B4D"/>
                </a:solidFill>
              </a:defRPr>
            </a:pPr>
            <a:r>
              <a:rPr sz="1800" b="0">
                <a:solidFill>
                  <a:srgbClr val="172B4D"/>
                </a:solidFill>
              </a:rPr>
              <a:t>아직 과밀하지 않은 동네 발견</a:t>
            </a:r>
          </a:p>
        </p:txBody>
      </p:sp>
    </p:spTree>
    <p:extLst>
      <p:ext uri="{BB962C8B-B14F-4D97-AF65-F5344CB8AC3E}">
        <p14:creationId xmlns:p14="http://schemas.microsoft.com/office/powerpoint/2010/main" val="879029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8FDF067-9BF9-1E25-1D99-7EFF07873BD1}"/>
              </a:ext>
            </a:extLst>
          </p:cNvPr>
          <p:cNvSpPr/>
          <p:nvPr/>
        </p:nvSpPr>
        <p:spPr>
          <a:xfrm>
            <a:off x="4540660" y="1846006"/>
            <a:ext cx="3069508" cy="205924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BAAF1A5-3E32-E955-17B5-2A469DE651B7}"/>
              </a:ext>
            </a:extLst>
          </p:cNvPr>
          <p:cNvSpPr/>
          <p:nvPr/>
        </p:nvSpPr>
        <p:spPr>
          <a:xfrm>
            <a:off x="633258" y="1826341"/>
            <a:ext cx="2955516" cy="188041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34BF4ED-AE8C-44F2-B6D2-664DB5D5D5C9}"/>
              </a:ext>
            </a:extLst>
          </p:cNvPr>
          <p:cNvSpPr>
            <a:spLocks noGrp="1"/>
          </p:cNvSpPr>
          <p:nvPr/>
        </p:nvSpPr>
        <p:spPr>
          <a:xfrm>
            <a:off x="666750" y="4381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4268F5"/>
                </a:solidFill>
              </a:defRPr>
            </a:pPr>
            <a:r>
              <a:rPr sz="1050" b="1">
                <a:solidFill>
                  <a:srgbClr val="4268F5"/>
                </a:solidFill>
              </a:rPr>
              <a:t>06 · BUSINESS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675AE8A-66B9-4D24-95D5-60B852EEF58F}"/>
              </a:ext>
            </a:extLst>
          </p:cNvPr>
          <p:cNvSpPr>
            <a:spLocks noGrp="1"/>
          </p:cNvSpPr>
          <p:nvPr/>
        </p:nvSpPr>
        <p:spPr>
          <a:xfrm>
            <a:off x="666750" y="85725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72B4D"/>
                </a:solidFill>
              </a:defRPr>
            </a:pPr>
            <a:r>
              <a:rPr sz="2850" b="1">
                <a:solidFill>
                  <a:srgbClr val="172B4D"/>
                </a:solidFill>
              </a:rPr>
              <a:t>무료 사용자 경험에서 지역 데이터 사업으로 확장합니다.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8FA4C61-2472-437E-8B30-BEDCC004DBE7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266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4268F5"/>
                </a:solidFill>
              </a:defRPr>
            </a:pPr>
            <a:r>
              <a:rPr sz="1950" b="1">
                <a:solidFill>
                  <a:srgbClr val="4268F5"/>
                </a:solidFill>
              </a:rPr>
              <a:t>개인 사용자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7EBDCB7-3BBC-4BFB-9F1F-A575291CC304}"/>
              </a:ext>
            </a:extLst>
          </p:cNvPr>
          <p:cNvSpPr>
            <a:spLocks noGrp="1"/>
          </p:cNvSpPr>
          <p:nvPr/>
        </p:nvSpPr>
        <p:spPr>
          <a:xfrm>
            <a:off x="762000" y="2571750"/>
            <a:ext cx="333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무료 탐색·지도·상세 근거</a:t>
            </a:r>
          </a:p>
          <a:p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예산·혼잡도·코스 확인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C01AE56-675B-4389-A640-69C6C170F515}"/>
              </a:ext>
            </a:extLst>
          </p:cNvPr>
          <p:cNvSpPr>
            <a:spLocks noGrp="1"/>
          </p:cNvSpPr>
          <p:nvPr/>
        </p:nvSpPr>
        <p:spPr>
          <a:xfrm>
            <a:off x="4857750" y="2000250"/>
            <a:ext cx="266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4268F5"/>
                </a:solidFill>
              </a:defRPr>
            </a:pPr>
            <a:r>
              <a:rPr sz="1950" b="1">
                <a:solidFill>
                  <a:srgbClr val="4268F5"/>
                </a:solidFill>
              </a:rPr>
              <a:t>B2B 확장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C8D4F68-1CF0-4B7B-A1B7-E4341906B1F9}"/>
              </a:ext>
            </a:extLst>
          </p:cNvPr>
          <p:cNvSpPr>
            <a:spLocks noGrp="1"/>
          </p:cNvSpPr>
          <p:nvPr/>
        </p:nvSpPr>
        <p:spPr>
          <a:xfrm>
            <a:off x="4857750" y="2571750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지역 변화 리포트</a:t>
            </a:r>
          </a:p>
          <a:p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프랜차이즈 입지 분석</a:t>
            </a:r>
          </a:p>
          <a:p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지자체 상권 모니터링</a:t>
            </a:r>
          </a:p>
          <a:p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데이터/API 라이선스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A610FE1-C23C-43D6-BB7C-4B61D2A91787}"/>
              </a:ext>
            </a:extLst>
          </p:cNvPr>
          <p:cNvSpPr>
            <a:spLocks noGrp="1"/>
          </p:cNvSpPr>
          <p:nvPr/>
        </p:nvSpPr>
        <p:spPr>
          <a:xfrm>
            <a:off x="762000" y="4762500"/>
            <a:ext cx="857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637083"/>
                </a:solidFill>
              </a:defRPr>
            </a:pPr>
            <a:r>
              <a:rPr sz="1650" b="0">
                <a:solidFill>
                  <a:srgbClr val="637083"/>
                </a:solidFill>
              </a:rPr>
              <a:t>추천 점수와 광고 노출은 분리해 신뢰를 유지합니다.</a:t>
            </a:r>
          </a:p>
        </p:txBody>
      </p:sp>
    </p:spTree>
    <p:extLst>
      <p:ext uri="{BB962C8B-B14F-4D97-AF65-F5344CB8AC3E}">
        <p14:creationId xmlns:p14="http://schemas.microsoft.com/office/powerpoint/2010/main" val="1444815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B6284C3-2F86-497F-B411-EFABB1252336}"/>
              </a:ext>
            </a:extLst>
          </p:cNvPr>
          <p:cNvSpPr>
            <a:spLocks noGrp="1"/>
          </p:cNvSpPr>
          <p:nvPr/>
        </p:nvSpPr>
        <p:spPr>
          <a:xfrm>
            <a:off x="666750" y="4381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4268F5"/>
                </a:solidFill>
              </a:defRPr>
            </a:pPr>
            <a:r>
              <a:rPr sz="1050" b="1">
                <a:solidFill>
                  <a:srgbClr val="4268F5"/>
                </a:solidFill>
              </a:rPr>
              <a:t>07 · TAKEAWAY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F3DDA34-7BC4-49C4-8A2C-7D76C81A340A}"/>
              </a:ext>
            </a:extLst>
          </p:cNvPr>
          <p:cNvSpPr>
            <a:spLocks noGrp="1"/>
          </p:cNvSpPr>
          <p:nvPr/>
        </p:nvSpPr>
        <p:spPr>
          <a:xfrm>
            <a:off x="666750" y="85725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72B4D"/>
                </a:solidFill>
              </a:defRPr>
            </a:pPr>
            <a:r>
              <a:rPr sz="2850" b="1" dirty="0">
                <a:solidFill>
                  <a:srgbClr val="172B4D"/>
                </a:solidFill>
              </a:rPr>
              <a:t>NEXT </a:t>
            </a:r>
            <a:r>
              <a:rPr sz="2850" b="1" dirty="0" err="1">
                <a:solidFill>
                  <a:srgbClr val="172B4D"/>
                </a:solidFill>
              </a:rPr>
              <a:t>SPOT은</a:t>
            </a:r>
            <a:r>
              <a:rPr sz="2850" b="1" dirty="0">
                <a:solidFill>
                  <a:srgbClr val="172B4D"/>
                </a:solidFill>
              </a:rPr>
              <a:t> </a:t>
            </a:r>
            <a:br>
              <a:rPr lang="en-US" sz="2850" b="1" dirty="0">
                <a:solidFill>
                  <a:srgbClr val="172B4D"/>
                </a:solidFill>
              </a:rPr>
            </a:br>
            <a:r>
              <a:rPr sz="2850" b="1" dirty="0">
                <a:solidFill>
                  <a:srgbClr val="172B4D"/>
                </a:solidFill>
              </a:rPr>
              <a:t>“</a:t>
            </a:r>
            <a:r>
              <a:rPr sz="2850" b="1" dirty="0" err="1">
                <a:solidFill>
                  <a:srgbClr val="172B4D"/>
                </a:solidFill>
              </a:rPr>
              <a:t>사람이</a:t>
            </a:r>
            <a:r>
              <a:rPr sz="2850" b="1" dirty="0">
                <a:solidFill>
                  <a:srgbClr val="172B4D"/>
                </a:solidFill>
              </a:rPr>
              <a:t> </a:t>
            </a:r>
            <a:r>
              <a:rPr sz="2850" b="1" dirty="0" err="1">
                <a:solidFill>
                  <a:srgbClr val="172B4D"/>
                </a:solidFill>
              </a:rPr>
              <a:t>몰린</a:t>
            </a:r>
            <a:r>
              <a:rPr sz="2850" b="1" dirty="0">
                <a:solidFill>
                  <a:srgbClr val="172B4D"/>
                </a:solidFill>
              </a:rPr>
              <a:t> </a:t>
            </a:r>
            <a:r>
              <a:rPr sz="2850" b="1" dirty="0" err="1">
                <a:solidFill>
                  <a:srgbClr val="172B4D"/>
                </a:solidFill>
              </a:rPr>
              <a:t>뒤”가</a:t>
            </a:r>
            <a:r>
              <a:rPr sz="2850" b="1" dirty="0">
                <a:solidFill>
                  <a:srgbClr val="172B4D"/>
                </a:solidFill>
              </a:rPr>
              <a:t> </a:t>
            </a:r>
            <a:r>
              <a:rPr sz="2850" b="1" dirty="0" err="1">
                <a:solidFill>
                  <a:srgbClr val="172B4D"/>
                </a:solidFill>
              </a:rPr>
              <a:t>아니라</a:t>
            </a:r>
            <a:r>
              <a:rPr sz="2850" b="1" dirty="0">
                <a:solidFill>
                  <a:srgbClr val="172B4D"/>
                </a:solidFill>
              </a:rPr>
              <a:t> “</a:t>
            </a:r>
            <a:r>
              <a:rPr sz="2850" b="1" dirty="0" err="1">
                <a:solidFill>
                  <a:srgbClr val="172B4D"/>
                </a:solidFill>
              </a:rPr>
              <a:t>변화가</a:t>
            </a:r>
            <a:r>
              <a:rPr sz="2850" b="1" dirty="0">
                <a:solidFill>
                  <a:srgbClr val="172B4D"/>
                </a:solidFill>
              </a:rPr>
              <a:t> </a:t>
            </a:r>
            <a:r>
              <a:rPr sz="2850" b="1" dirty="0" err="1">
                <a:solidFill>
                  <a:srgbClr val="172B4D"/>
                </a:solidFill>
              </a:rPr>
              <a:t>시작될</a:t>
            </a:r>
            <a:r>
              <a:rPr sz="2850" b="1" dirty="0">
                <a:solidFill>
                  <a:srgbClr val="172B4D"/>
                </a:solidFill>
              </a:rPr>
              <a:t> </a:t>
            </a:r>
            <a:r>
              <a:rPr sz="2850" b="1" dirty="0" err="1">
                <a:solidFill>
                  <a:srgbClr val="172B4D"/>
                </a:solidFill>
              </a:rPr>
              <a:t>때”를</a:t>
            </a:r>
            <a:r>
              <a:rPr sz="2850" b="1" dirty="0">
                <a:solidFill>
                  <a:srgbClr val="172B4D"/>
                </a:solidFill>
              </a:rPr>
              <a:t> </a:t>
            </a:r>
            <a:r>
              <a:rPr sz="2850" b="1" dirty="0" err="1">
                <a:solidFill>
                  <a:srgbClr val="172B4D"/>
                </a:solidFill>
              </a:rPr>
              <a:t>보여줍니다</a:t>
            </a:r>
            <a:r>
              <a:rPr sz="2850" b="1" dirty="0">
                <a:solidFill>
                  <a:srgbClr val="172B4D"/>
                </a:solidFill>
              </a:rPr>
              <a:t>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4B29AE-13A5-4638-80B1-78E7FD11E9F2}"/>
              </a:ext>
            </a:extLst>
          </p:cNvPr>
          <p:cNvSpPr>
            <a:spLocks noGrp="1"/>
          </p:cNvSpPr>
          <p:nvPr/>
        </p:nvSpPr>
        <p:spPr>
          <a:xfrm>
            <a:off x="2286000" y="3095625"/>
            <a:ext cx="10001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4268F5"/>
                </a:solidFill>
              </a:defRPr>
            </a:pPr>
            <a:r>
              <a:rPr sz="2700" b="1" dirty="0" err="1">
                <a:solidFill>
                  <a:srgbClr val="4268F5"/>
                </a:solidFill>
              </a:rPr>
              <a:t>아정당</a:t>
            </a:r>
            <a:r>
              <a:rPr sz="2700" b="1" dirty="0">
                <a:solidFill>
                  <a:srgbClr val="4268F5"/>
                </a:solidFill>
              </a:rPr>
              <a:t> </a:t>
            </a:r>
            <a:r>
              <a:rPr sz="2700" b="1" dirty="0" err="1">
                <a:solidFill>
                  <a:srgbClr val="4268F5"/>
                </a:solidFill>
              </a:rPr>
              <a:t>지역</a:t>
            </a:r>
            <a:r>
              <a:rPr sz="2700" b="1" dirty="0">
                <a:solidFill>
                  <a:srgbClr val="4268F5"/>
                </a:solidFill>
              </a:rPr>
              <a:t> </a:t>
            </a:r>
            <a:r>
              <a:rPr sz="2700" b="1" dirty="0" err="1">
                <a:solidFill>
                  <a:srgbClr val="4268F5"/>
                </a:solidFill>
              </a:rPr>
              <a:t>신호</a:t>
            </a:r>
            <a:r>
              <a:rPr sz="2700" b="1" dirty="0">
                <a:solidFill>
                  <a:srgbClr val="4268F5"/>
                </a:solidFill>
              </a:rPr>
              <a:t> + </a:t>
            </a:r>
            <a:r>
              <a:rPr sz="2700" b="1" dirty="0" err="1">
                <a:solidFill>
                  <a:srgbClr val="4268F5"/>
                </a:solidFill>
              </a:rPr>
              <a:t>공개데이터</a:t>
            </a:r>
            <a:r>
              <a:rPr sz="2700" b="1" dirty="0">
                <a:solidFill>
                  <a:srgbClr val="4268F5"/>
                </a:solidFill>
              </a:rPr>
              <a:t> + </a:t>
            </a:r>
            <a:r>
              <a:rPr sz="2700" b="1" dirty="0" err="1">
                <a:solidFill>
                  <a:srgbClr val="4268F5"/>
                </a:solidFill>
              </a:rPr>
              <a:t>투명한</a:t>
            </a:r>
            <a:r>
              <a:rPr sz="2700" b="1" dirty="0">
                <a:solidFill>
                  <a:srgbClr val="4268F5"/>
                </a:solidFill>
              </a:rPr>
              <a:t> </a:t>
            </a:r>
            <a:r>
              <a:rPr sz="2700" b="1" dirty="0" err="1">
                <a:solidFill>
                  <a:srgbClr val="4268F5"/>
                </a:solidFill>
              </a:rPr>
              <a:t>점수</a:t>
            </a:r>
            <a:endParaRPr sz="2700" b="1" dirty="0">
              <a:solidFill>
                <a:srgbClr val="4268F5"/>
              </a:solidFill>
            </a:endParaRPr>
          </a:p>
          <a:p>
            <a:pPr>
              <a:defRPr sz="2700" b="1">
                <a:solidFill>
                  <a:srgbClr val="4268F5"/>
                </a:solidFill>
              </a:defRPr>
            </a:pPr>
            <a:r>
              <a:rPr sz="2700" b="1" dirty="0">
                <a:solidFill>
                  <a:srgbClr val="4268F5"/>
                </a:solidFill>
              </a:rPr>
              <a:t>= </a:t>
            </a:r>
            <a:r>
              <a:rPr sz="2700" b="1" dirty="0" err="1">
                <a:solidFill>
                  <a:srgbClr val="4268F5"/>
                </a:solidFill>
              </a:rPr>
              <a:t>다음</a:t>
            </a:r>
            <a:r>
              <a:rPr sz="2700" b="1" dirty="0">
                <a:solidFill>
                  <a:srgbClr val="4268F5"/>
                </a:solidFill>
              </a:rPr>
              <a:t> </a:t>
            </a:r>
            <a:r>
              <a:rPr sz="2700" b="1" dirty="0" err="1">
                <a:solidFill>
                  <a:srgbClr val="4268F5"/>
                </a:solidFill>
              </a:rPr>
              <a:t>동네를</a:t>
            </a:r>
            <a:r>
              <a:rPr sz="2700" b="1" dirty="0">
                <a:solidFill>
                  <a:srgbClr val="4268F5"/>
                </a:solidFill>
              </a:rPr>
              <a:t> </a:t>
            </a:r>
            <a:r>
              <a:rPr sz="2700" b="1" dirty="0" err="1">
                <a:solidFill>
                  <a:srgbClr val="4268F5"/>
                </a:solidFill>
              </a:rPr>
              <a:t>먼저</a:t>
            </a:r>
            <a:r>
              <a:rPr sz="2700" b="1" dirty="0">
                <a:solidFill>
                  <a:srgbClr val="4268F5"/>
                </a:solidFill>
              </a:rPr>
              <a:t> </a:t>
            </a:r>
            <a:r>
              <a:rPr sz="2700" b="1" dirty="0" err="1">
                <a:solidFill>
                  <a:srgbClr val="4268F5"/>
                </a:solidFill>
              </a:rPr>
              <a:t>발견하는</a:t>
            </a:r>
            <a:r>
              <a:rPr sz="2700" b="1" dirty="0">
                <a:solidFill>
                  <a:srgbClr val="4268F5"/>
                </a:solidFill>
              </a:rPr>
              <a:t> </a:t>
            </a:r>
            <a:r>
              <a:rPr sz="2700" b="1" dirty="0" err="1">
                <a:solidFill>
                  <a:srgbClr val="4268F5"/>
                </a:solidFill>
              </a:rPr>
              <a:t>탐색</a:t>
            </a:r>
            <a:r>
              <a:rPr sz="2700" b="1" dirty="0">
                <a:solidFill>
                  <a:srgbClr val="4268F5"/>
                </a:solidFill>
              </a:rPr>
              <a:t> </a:t>
            </a:r>
            <a:r>
              <a:rPr sz="2700" b="1" dirty="0" err="1">
                <a:solidFill>
                  <a:srgbClr val="4268F5"/>
                </a:solidFill>
              </a:rPr>
              <a:t>경험</a:t>
            </a:r>
            <a:endParaRPr sz="2700" b="1" dirty="0">
              <a:solidFill>
                <a:srgbClr val="4268F5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8E0F9EE-C58B-4FE1-82F5-24086C9758E7}"/>
              </a:ext>
            </a:extLst>
          </p:cNvPr>
          <p:cNvSpPr>
            <a:spLocks noGrp="1"/>
          </p:cNvSpPr>
          <p:nvPr/>
        </p:nvSpPr>
        <p:spPr>
          <a:xfrm>
            <a:off x="857250" y="58102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NEXT SPOT</a:t>
            </a:r>
          </a:p>
        </p:txBody>
      </p:sp>
    </p:spTree>
    <p:extLst>
      <p:ext uri="{BB962C8B-B14F-4D97-AF65-F5344CB8AC3E}">
        <p14:creationId xmlns:p14="http://schemas.microsoft.com/office/powerpoint/2010/main" val="56904179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</Words>
  <Application>Microsoft Office PowerPoint</Application>
  <DocSecurity>0</DocSecurity>
  <PresentationFormat>와이드스크린</PresentationFormat>
  <Paragraphs>72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나연 김</cp:lastModifiedBy>
  <cp:revision>1</cp:revision>
  <dcterms:created xsi:type="dcterms:W3CDTF">2026-08-21T08:17:46Z</dcterms:created>
  <dcterms:modified xsi:type="dcterms:W3CDTF">2026-08-21T08:23:15Z</dcterms:modified>
</cp:coreProperties>
</file>